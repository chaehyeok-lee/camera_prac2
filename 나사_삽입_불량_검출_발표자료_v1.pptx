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6" r:id="rId5"/>
    <p:sldId id="259" r:id="rId6"/>
    <p:sldId id="260" r:id="rId7"/>
    <p:sldId id="261" r:id="rId8"/>
    <p:sldId id="262" r:id="rId9"/>
    <p:sldId id="263" r:id="rId10"/>
    <p:sldId id="267" r:id="rId11"/>
    <p:sldId id="269" r:id="rId12"/>
    <p:sldId id="264" r:id="rId13"/>
    <p:sldId id="268" r:id="rId14"/>
    <p:sldId id="265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794" autoAdjust="0"/>
  </p:normalViewPr>
  <p:slideViewPr>
    <p:cSldViewPr snapToGrid="0" snapToObjects="1">
      <p:cViewPr varScale="1">
        <p:scale>
          <a:sx n="105" d="100"/>
          <a:sy n="105" d="100"/>
        </p:scale>
        <p:origin x="798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4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" y="2331720"/>
            <a:ext cx="822960" cy="73152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51460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맑은 고딕"/>
                <a:ea typeface="맑은 고딕"/>
              </a:rPr>
              <a:t>나사 삽입 불량 자동 검출 시스템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4290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B8C4D9"/>
                </a:solidFill>
                <a:latin typeface="맑은 고딕"/>
                <a:ea typeface="맑은 고딕"/>
              </a:rPr>
              <a:t>RealSense D435 Depth+RGB 하이브리드 검사 파이프라인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0350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7C8BA8"/>
                </a:solidFill>
                <a:latin typeface="맑은 고딕"/>
                <a:ea typeface="맑은 고딕"/>
              </a:rPr>
              <a:t>정상 / 덜박힘 / 틀어짐 자동 판별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02920"/>
            <a:ext cx="54864" cy="384048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F6FED"/>
                </a:solidFill>
                <a:latin typeface="맑은 고딕"/>
                <a:ea typeface="맑은 고딕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49808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1243B"/>
                </a:solidFill>
                <a:latin typeface="맑은 고딕"/>
                <a:ea typeface="맑은 고딕"/>
              </a:rPr>
              <a:t>핵심 성과 요약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91640"/>
            <a:ext cx="5257800" cy="1965960"/>
          </a:xfrm>
          <a:prstGeom prst="rect">
            <a:avLst/>
          </a:prstGeom>
          <a:solidFill>
            <a:srgbClr val="F7F8FA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1856232"/>
            <a:ext cx="48006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F6FED"/>
                </a:solidFill>
                <a:latin typeface="맑은 고딕"/>
                <a:ea typeface="맑은 고딕"/>
              </a:rPr>
              <a:t>9 → 13개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880360"/>
            <a:ext cx="4800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1243B"/>
                </a:solidFill>
                <a:latin typeface="맑은 고딕"/>
                <a:ea typeface="맑은 고딕"/>
              </a:rPr>
              <a:t>스터드홀 탐지 개수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218688"/>
            <a:ext cx="4800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맑은 고딕"/>
                <a:ea typeface="맑은 고딕"/>
              </a:rPr>
              <a:t>confidence·원형도 필터 조정, 오탐 증가 없음 확인</a:t>
            </a:r>
          </a:p>
        </p:txBody>
      </p:sp>
      <p:sp>
        <p:nvSpPr>
          <p:cNvPr id="9" name="Rectangle 8"/>
          <p:cNvSpPr/>
          <p:nvPr/>
        </p:nvSpPr>
        <p:spPr>
          <a:xfrm>
            <a:off x="6446520" y="1691640"/>
            <a:ext cx="5257800" cy="1965960"/>
          </a:xfrm>
          <a:prstGeom prst="rect">
            <a:avLst/>
          </a:prstGeom>
          <a:solidFill>
            <a:srgbClr val="F7F8FA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75120" y="1856232"/>
            <a:ext cx="48006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dirty="0">
                <a:solidFill>
                  <a:srgbClr val="2F6FED"/>
                </a:solidFill>
                <a:latin typeface="맑은 고딕"/>
                <a:ea typeface="맑은 고딕"/>
              </a:rPr>
              <a:t>0개 → </a:t>
            </a:r>
            <a:r>
              <a:rPr sz="3000" b="1" dirty="0" err="1">
                <a:solidFill>
                  <a:srgbClr val="2F6FED"/>
                </a:solidFill>
                <a:latin typeface="맑은 고딕"/>
                <a:ea typeface="맑은 고딕"/>
              </a:rPr>
              <a:t>정상</a:t>
            </a:r>
            <a:r>
              <a:rPr sz="3000" b="1" dirty="0">
                <a:solidFill>
                  <a:srgbClr val="2F6FED"/>
                </a:solidFill>
                <a:latin typeface="맑은 고딕"/>
                <a:ea typeface="맑은 고딕"/>
              </a:rPr>
              <a:t> </a:t>
            </a:r>
            <a:r>
              <a:rPr sz="3000" b="1" dirty="0" err="1">
                <a:solidFill>
                  <a:srgbClr val="2F6FED"/>
                </a:solidFill>
                <a:latin typeface="맑은 고딕"/>
                <a:ea typeface="맑은 고딕"/>
              </a:rPr>
              <a:t>검출</a:t>
            </a:r>
            <a:endParaRPr sz="3000" b="1" dirty="0">
              <a:solidFill>
                <a:srgbClr val="2F6FED"/>
              </a:solidFill>
              <a:latin typeface="맑은 고딕"/>
              <a:ea typeface="맑은 고딕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675120" y="2880360"/>
            <a:ext cx="4800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1243B"/>
                </a:solidFill>
                <a:latin typeface="맑은 고딕"/>
                <a:ea typeface="맑은 고딕"/>
              </a:rPr>
              <a:t>나사머리(screw_head) 검출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3218688"/>
            <a:ext cx="4800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맑은 고딕"/>
                <a:ea typeface="맑은 고딕"/>
              </a:rPr>
              <a:t>YOLO 학습 방식 실패 → 색상 기반 전환, 오차 -1.6~-7.6%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977640"/>
            <a:ext cx="5257800" cy="1965960"/>
          </a:xfrm>
          <a:prstGeom prst="rect">
            <a:avLst/>
          </a:prstGeom>
          <a:solidFill>
            <a:srgbClr val="F7F8FA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51560" y="4142232"/>
            <a:ext cx="48006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F6FED"/>
                </a:solidFill>
                <a:latin typeface="맑은 고딕"/>
                <a:ea typeface="맑은 고딕"/>
              </a:rPr>
              <a:t>4.93s → 3.08s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5166360"/>
            <a:ext cx="4800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1243B"/>
                </a:solidFill>
                <a:latin typeface="맑은 고딕"/>
                <a:ea typeface="맑은 고딕"/>
              </a:rPr>
              <a:t>실시간 측정 소요시간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5504688"/>
            <a:ext cx="4800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맑은 고딕"/>
                <a:ea typeface="맑은 고딕"/>
              </a:rPr>
              <a:t>-37% · 모델 워밍업 위치 조정으로 병목 제거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46520" y="3977640"/>
            <a:ext cx="5257800" cy="1965960"/>
          </a:xfrm>
          <a:prstGeom prst="rect">
            <a:avLst/>
          </a:prstGeom>
          <a:solidFill>
            <a:srgbClr val="F7F8FA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75120" y="4142232"/>
            <a:ext cx="48006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F6FED"/>
                </a:solidFill>
                <a:latin typeface="맑은 고딕"/>
                <a:ea typeface="맑은 고딕"/>
              </a:rPr>
              <a:t>3/3회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5166360"/>
            <a:ext cx="4800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1243B"/>
                </a:solidFill>
                <a:latin typeface="맑은 고딕"/>
                <a:ea typeface="맑은 고딕"/>
              </a:rPr>
              <a:t>현장 실카메라 상태전이 검증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5504688"/>
            <a:ext cx="4800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맑은 고딕"/>
                <a:ea typeface="맑은 고딕"/>
              </a:rPr>
              <a:t>정지감지→측정→결과→재트리거 전체 순환 성공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  <a:ea typeface="맑은 고딕"/>
              </a:rPr>
              <a:t>이하 슬라이드에서 각 성과의 근거(실측 사진·로그)를 순서대로 제시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02920"/>
            <a:ext cx="54864" cy="384048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F6FED"/>
                </a:solidFill>
                <a:latin typeface="맑은 고딕"/>
                <a:ea typeface="맑은 고딕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55548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dirty="0" err="1">
                <a:solidFill>
                  <a:srgbClr val="11243B"/>
                </a:solidFill>
                <a:latin typeface="맑은 고딕"/>
                <a:ea typeface="맑은 고딕"/>
              </a:rPr>
              <a:t>문제</a:t>
            </a:r>
            <a:r>
              <a:rPr sz="2800" b="1" dirty="0">
                <a:solidFill>
                  <a:srgbClr val="11243B"/>
                </a:solidFill>
                <a:latin typeface="맑은 고딕"/>
                <a:ea typeface="맑은 고딕"/>
              </a:rPr>
              <a:t> </a:t>
            </a:r>
            <a:r>
              <a:rPr sz="2800" b="1" dirty="0" err="1">
                <a:solidFill>
                  <a:srgbClr val="11243B"/>
                </a:solidFill>
                <a:latin typeface="맑은 고딕"/>
                <a:ea typeface="맑은 고딕"/>
              </a:rPr>
              <a:t>정의</a:t>
            </a:r>
            <a:r>
              <a:rPr sz="2800" b="1" dirty="0">
                <a:solidFill>
                  <a:srgbClr val="11243B"/>
                </a:solidFill>
                <a:latin typeface="맑은 고딕"/>
                <a:ea typeface="맑은 고딕"/>
              </a:rPr>
              <a:t> 및 </a:t>
            </a:r>
            <a:r>
              <a:rPr sz="2800" b="1" dirty="0" err="1">
                <a:solidFill>
                  <a:srgbClr val="11243B"/>
                </a:solidFill>
                <a:latin typeface="맑은 고딕"/>
                <a:ea typeface="맑은 고딕"/>
              </a:rPr>
              <a:t>파이프라인</a:t>
            </a:r>
            <a:endParaRPr sz="2800" b="1" dirty="0">
              <a:solidFill>
                <a:srgbClr val="11243B"/>
              </a:solidFill>
              <a:latin typeface="맑은 고딕"/>
              <a:ea typeface="맑은 고딕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51206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1243B"/>
                </a:solidFill>
                <a:latin typeface="맑은 고딕"/>
                <a:ea typeface="맑은 고딕"/>
              </a:rPr>
              <a:t>목표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11243B"/>
                </a:solidFill>
                <a:latin typeface="맑은 고딕"/>
                <a:ea typeface="맑은 고딕"/>
              </a:rPr>
              <a:t>타이어 허브 나사 삽입 상태를 3가지로 자동 판별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11243B"/>
                </a:solidFill>
                <a:latin typeface="맑은 고딕"/>
                <a:ea typeface="맑은 고딕"/>
              </a:rPr>
              <a:t>(정상 / 덜박힘 / 틀어짐)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34640"/>
            <a:ext cx="51206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1243B"/>
                </a:solidFill>
                <a:latin typeface="맑은 고딕"/>
                <a:ea typeface="맑은 고딕"/>
              </a:rPr>
              <a:t>제약 조건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11243B"/>
                </a:solidFill>
                <a:latin typeface="맑은 고딕"/>
                <a:ea typeface="맑은 고딕"/>
              </a:rPr>
              <a:t>· 시편 3개, 측정거리 250mm 고정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11243B"/>
                </a:solidFill>
                <a:latin typeface="맑은 고딕"/>
                <a:ea typeface="맑은 고딕"/>
              </a:rPr>
              <a:t>· Intel RealSense D435 (Depth+RGB)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29300" y="1970532"/>
            <a:ext cx="960120" cy="960120"/>
          </a:xfrm>
          <a:prstGeom prst="round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Depth
전처리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789420" y="2377440"/>
            <a:ext cx="256032" cy="146304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737860" y="3040380"/>
            <a:ext cx="1143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맑은 고딕"/>
                <a:ea typeface="맑은 고딕"/>
              </a:rPr>
              <a:t>3번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45452" y="1970532"/>
            <a:ext cx="960120" cy="960120"/>
          </a:xfrm>
          <a:prstGeom prst="round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Segmentation
학습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005572" y="2377440"/>
            <a:ext cx="256032" cy="146304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954012" y="3040380"/>
            <a:ext cx="1143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맑은 고딕"/>
                <a:ea typeface="맑은 고딕"/>
              </a:rPr>
              <a:t>4번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61604" y="1970532"/>
            <a:ext cx="960120" cy="960120"/>
          </a:xfrm>
          <a:prstGeom prst="round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px→mm
환산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221724" y="2377440"/>
            <a:ext cx="256032" cy="146304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70164" y="3040380"/>
            <a:ext cx="1143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맑은 고딕"/>
                <a:ea typeface="맑은 고딕"/>
              </a:rPr>
              <a:t>5번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77756" y="1970532"/>
            <a:ext cx="960120" cy="960120"/>
          </a:xfrm>
          <a:prstGeom prst="round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불량
판정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10437876" y="2377440"/>
            <a:ext cx="256032" cy="146304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86316" y="3040380"/>
            <a:ext cx="1143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맑은 고딕"/>
                <a:ea typeface="맑은 고딕"/>
              </a:rPr>
              <a:t>6번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693908" y="1970532"/>
            <a:ext cx="960120" cy="960120"/>
          </a:xfrm>
          <a:prstGeom prst="roundRect">
            <a:avLst/>
          </a:prstGeom>
          <a:solidFill>
            <a:srgbClr val="1E4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실시간화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2468" y="3040380"/>
            <a:ext cx="1143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맑은 고딕"/>
                <a:ea typeface="맑은 고딕"/>
              </a:rPr>
              <a:t>7번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  <a:ea typeface="맑은 고딕"/>
              </a:rPr>
              <a:t>3번(Depth 전처리)~7번(실시간화) 순서로 진행 · 4~6번이 핵심 정확도 개선 구간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465238"/>
              </p:ext>
            </p:extLst>
          </p:nvPr>
        </p:nvGraphicFramePr>
        <p:xfrm>
          <a:off x="5692140" y="3433572"/>
          <a:ext cx="5943600" cy="2514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08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34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단계</a:t>
                      </a:r>
                    </a:p>
                  </a:txBody>
                  <a:tcPr marT="25400" marB="25400" anchor="ctr">
                    <a:solidFill>
                      <a:srgbClr val="2F6F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marT="25400" marB="25400" anchor="ctr">
                    <a:solidFill>
                      <a:srgbClr val="2F6F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1243B"/>
                          </a:solidFill>
                          <a:latin typeface="맑은 고딕"/>
                        </a:rPr>
                        <a:t>3. Depth 전처리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6B7280"/>
                          </a:solidFill>
                          <a:latin typeface="맑은 고딕"/>
                        </a:rPr>
                        <a:t>RealSense 필터체인(spatial/temporal/hole-filling) 튜닝 + 다중프레임 평균으로 노이즈 최소화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1243B"/>
                          </a:solidFill>
                          <a:latin typeface="맑은 고딕"/>
                        </a:rPr>
                        <a:t>4. Segmentation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6B7280"/>
                          </a:solidFill>
                          <a:latin typeface="맑은 고딕"/>
                        </a:rPr>
                        <a:t>YOLOv8n-seg, COCO 사전학습 → 직접 라벨링한 14장으로 전이학습 (구멍 탐지용)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1243B"/>
                          </a:solidFill>
                          <a:latin typeface="맑은 고딕"/>
                        </a:rPr>
                        <a:t>5. px→mm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6B7280"/>
                          </a:solidFill>
                          <a:latin typeface="맑은 고딕"/>
                        </a:rPr>
                        <a:t>핀홀 공식(지름px×depth/fx) + 평면-호모그래피로 기울기 오차 보정 · 나사머리는 YOLO 대신 Otsu 밝기임계값(색상 기반)으로 전환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1243B"/>
                          </a:solidFill>
                          <a:latin typeface="맑은 고딕"/>
                        </a:rPr>
                        <a:t>6. 불량판정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6B7280"/>
                          </a:solidFill>
                          <a:latin typeface="맑은 고딕"/>
                        </a:rPr>
                        <a:t>틀어짐=RGB 장단축비(aspect_ratio), 덜박힘=depth 평면피팅 돌출량 측정 후 5mm 고정 임계값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1243B"/>
                          </a:solidFill>
                          <a:latin typeface="맑은 고딕"/>
                        </a:rPr>
                        <a:t>7. 실시간화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6B7280"/>
                          </a:solidFill>
                          <a:latin typeface="맑은 고딕"/>
                        </a:rPr>
                        <a:t>depth 변화량 기반 정지감지(모션 디바운싱) → 자동 트리거 → 5·6번 파이프라인 재사용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02920"/>
            <a:ext cx="54864" cy="3840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F6FED"/>
                </a:solidFill>
                <a:latin typeface="맑은 고딕"/>
              </a:rPr>
              <a:t>3. DEPTH 전처리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4980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1243B"/>
                </a:solidFill>
                <a:latin typeface="맑은 고딕"/>
              </a:rPr>
              <a:t>노이즈 저감 실험으로 파이프라인 확정</a:t>
            </a:r>
          </a:p>
        </p:txBody>
      </p:sp>
      <p:sp>
        <p:nvSpPr>
          <p:cNvPr id="5" name="Rectangle 4"/>
          <p:cNvSpPr/>
          <p:nvPr/>
        </p:nvSpPr>
        <p:spPr>
          <a:xfrm>
            <a:off x="525192" y="1719072"/>
            <a:ext cx="3387198" cy="2642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3-3_spatial_pareto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480" y="1737360"/>
            <a:ext cx="3350622" cy="26060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3480" y="4434840"/>
            <a:ext cx="335062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6B7280"/>
                </a:solidFill>
                <a:latin typeface="맑은 고딕"/>
              </a:rPr>
              <a:t>필터 기법 비교 · RealSense spatial 채택 (노이즈 -49%)</a:t>
            </a:r>
          </a:p>
        </p:txBody>
      </p:sp>
      <p:sp>
        <p:nvSpPr>
          <p:cNvPr id="8" name="Rectangle 7"/>
          <p:cNvSpPr/>
          <p:nvPr/>
        </p:nvSpPr>
        <p:spPr>
          <a:xfrm>
            <a:off x="4104415" y="1719072"/>
            <a:ext cx="3685031" cy="2642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3-4_temporal_tradeo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2703" y="1737360"/>
            <a:ext cx="3648456" cy="26060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122703" y="4434840"/>
            <a:ext cx="364845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6B7280"/>
                </a:solidFill>
                <a:latin typeface="맑은 고딕"/>
              </a:rPr>
              <a:t>시간축 필터 강도 · alpha=0.1 채택 (노이즈 사실상 0)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81471" y="1719072"/>
            <a:ext cx="3685031" cy="2642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3-6_multiframe_resu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9759" y="1737360"/>
            <a:ext cx="3648456" cy="26060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999759" y="4434840"/>
            <a:ext cx="364845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6B7280"/>
                </a:solidFill>
                <a:latin typeface="맑은 고딕"/>
              </a:rPr>
              <a:t>합성 프레임 수 · N=30 채택 (knee point)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355080"/>
            <a:ext cx="105156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dirty="0">
                <a:solidFill>
                  <a:srgbClr val="6B7280"/>
                </a:solidFill>
                <a:latin typeface="맑은 고딕"/>
              </a:rPr>
              <a:t>3개 </a:t>
            </a:r>
            <a:r>
              <a:rPr sz="1000" b="0" dirty="0" err="1">
                <a:solidFill>
                  <a:srgbClr val="6B7280"/>
                </a:solidFill>
                <a:latin typeface="맑은 고딕"/>
              </a:rPr>
              <a:t>실험</a:t>
            </a:r>
            <a:r>
              <a:rPr sz="1000" b="0" dirty="0">
                <a:solidFill>
                  <a:srgbClr val="6B728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6B7280"/>
                </a:solidFill>
                <a:latin typeface="맑은 고딕"/>
              </a:rPr>
              <a:t>모두</a:t>
            </a:r>
            <a:r>
              <a:rPr sz="1000" b="0" dirty="0">
                <a:solidFill>
                  <a:srgbClr val="6B728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6B7280"/>
                </a:solidFill>
                <a:latin typeface="맑은 고딕"/>
              </a:rPr>
              <a:t>상대</a:t>
            </a:r>
            <a:r>
              <a:rPr sz="1000" b="0" dirty="0">
                <a:solidFill>
                  <a:srgbClr val="6B728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6B7280"/>
                </a:solidFill>
                <a:latin typeface="맑은 고딕"/>
              </a:rPr>
              <a:t>비교로</a:t>
            </a:r>
            <a:r>
              <a:rPr sz="1000" b="0" dirty="0">
                <a:solidFill>
                  <a:srgbClr val="6B728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6B7280"/>
                </a:solidFill>
                <a:latin typeface="맑은 고딕"/>
              </a:rPr>
              <a:t>최적값</a:t>
            </a:r>
            <a:r>
              <a:rPr sz="1000" b="0" dirty="0">
                <a:solidFill>
                  <a:srgbClr val="6B728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6B7280"/>
                </a:solidFill>
                <a:latin typeface="맑은 고딕"/>
              </a:rPr>
              <a:t>도출</a:t>
            </a:r>
            <a:r>
              <a:rPr sz="1000" b="0" dirty="0">
                <a:solidFill>
                  <a:srgbClr val="6B7280"/>
                </a:solidFill>
                <a:latin typeface="맑은 고딕"/>
              </a:rPr>
              <a:t> · </a:t>
            </a:r>
            <a:r>
              <a:rPr sz="1000" b="0" dirty="0" err="1">
                <a:solidFill>
                  <a:srgbClr val="6B7280"/>
                </a:solidFill>
                <a:latin typeface="맑은 고딕"/>
              </a:rPr>
              <a:t>절대</a:t>
            </a:r>
            <a:r>
              <a:rPr sz="1000" b="0" dirty="0">
                <a:solidFill>
                  <a:srgbClr val="6B728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6B7280"/>
                </a:solidFill>
                <a:latin typeface="맑은 고딕"/>
              </a:rPr>
              <a:t>정확도</a:t>
            </a:r>
            <a:r>
              <a:rPr sz="1000" b="0" dirty="0">
                <a:solidFill>
                  <a:srgbClr val="6B728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6B7280"/>
                </a:solidFill>
                <a:latin typeface="맑은 고딕"/>
              </a:rPr>
              <a:t>검증은</a:t>
            </a:r>
            <a:r>
              <a:rPr sz="1000" b="0" dirty="0">
                <a:solidFill>
                  <a:srgbClr val="6B7280"/>
                </a:solidFill>
                <a:latin typeface="맑은 고딕"/>
              </a:rPr>
              <a:t> </a:t>
            </a:r>
            <a:r>
              <a:rPr lang="ko-KR" altLang="en-US" sz="1000" b="0" dirty="0">
                <a:solidFill>
                  <a:srgbClr val="6B7280"/>
                </a:solidFill>
                <a:latin typeface="맑은 고딕"/>
              </a:rPr>
              <a:t>위 프로젝트</a:t>
            </a:r>
            <a:r>
              <a:rPr sz="1000" b="0" dirty="0" err="1">
                <a:solidFill>
                  <a:srgbClr val="6B7280"/>
                </a:solidFill>
                <a:latin typeface="맑은 고딕"/>
              </a:rPr>
              <a:t>에서</a:t>
            </a:r>
            <a:r>
              <a:rPr sz="1000" b="0" dirty="0">
                <a:solidFill>
                  <a:srgbClr val="6B728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6B7280"/>
                </a:solidFill>
                <a:latin typeface="맑은 고딕"/>
              </a:rPr>
              <a:t>별도</a:t>
            </a:r>
            <a:r>
              <a:rPr sz="1000" b="0" dirty="0">
                <a:solidFill>
                  <a:srgbClr val="6B728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6B7280"/>
                </a:solidFill>
                <a:latin typeface="맑은 고딕"/>
              </a:rPr>
              <a:t>진행</a:t>
            </a:r>
            <a:endParaRPr sz="1000" b="0" dirty="0">
              <a:solidFill>
                <a:srgbClr val="6B7280"/>
              </a:solidFill>
              <a:latin typeface="맑은 고딕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02920"/>
            <a:ext cx="54864" cy="384048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F6FED"/>
                </a:solidFill>
                <a:latin typeface="맑은 고딕"/>
                <a:ea typeface="맑은 고딕"/>
              </a:rPr>
              <a:t>4. SEGMENTATION 개선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49808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1243B"/>
                </a:solidFill>
                <a:latin typeface="맑은 고딕"/>
                <a:ea typeface="맑은 고딕"/>
              </a:rPr>
              <a:t>스터드홀(stud_hole) 탐지 재현율 개선</a:t>
            </a:r>
          </a:p>
        </p:txBody>
      </p:sp>
      <p:sp>
        <p:nvSpPr>
          <p:cNvPr id="5" name="Rectangle 4"/>
          <p:cNvSpPr/>
          <p:nvPr/>
        </p:nvSpPr>
        <p:spPr>
          <a:xfrm>
            <a:off x="667512" y="1920239"/>
            <a:ext cx="5111496" cy="3232145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4-2_hole_bas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938528"/>
            <a:ext cx="5074920" cy="319125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199632" y="1920239"/>
            <a:ext cx="5111496" cy="3232145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4-2_hole_low_conf_circular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938528"/>
            <a:ext cx="5074920" cy="31912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" y="1325880"/>
            <a:ext cx="5074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6B7280"/>
                </a:solidFill>
                <a:latin typeface="맑은 고딕"/>
                <a:ea typeface="맑은 고딕"/>
              </a:rPr>
              <a:t>BEFORE · 9개 탐지 (conf=0.28)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325880"/>
            <a:ext cx="5074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A34A"/>
                </a:solidFill>
                <a:latin typeface="맑은 고딕"/>
                <a:ea typeface="맑은 고딕"/>
              </a:rPr>
              <a:t>AFTER · 13개 탐지 (conf=0.15 + 원형도 필터)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  <a:ea typeface="맑은 고딕"/>
              </a:rPr>
              <a:t>동일 프레임 비교 · 기존 9개 위치 그대로 유지 + 4개 추가 검출, 오탐 육안상 없음 확인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02920"/>
            <a:ext cx="54864" cy="384048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F6FED"/>
                </a:solidFill>
                <a:latin typeface="맑은 고딕"/>
                <a:ea typeface="맑은 고딕"/>
              </a:rPr>
              <a:t>5. PX → MM 환산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49808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1243B"/>
                </a:solidFill>
                <a:latin typeface="맑은 고딕"/>
                <a:ea typeface="맑은 고딕"/>
              </a:rPr>
              <a:t>나사머리(screw_head) 검출 방식 전환</a:t>
            </a:r>
          </a:p>
        </p:txBody>
      </p:sp>
      <p:sp>
        <p:nvSpPr>
          <p:cNvPr id="5" name="Rectangle 4"/>
          <p:cNvSpPr/>
          <p:nvPr/>
        </p:nvSpPr>
        <p:spPr>
          <a:xfrm>
            <a:off x="6016752" y="2161984"/>
            <a:ext cx="5614416" cy="3174111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5_px_to_mm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2180272"/>
            <a:ext cx="5577840" cy="31375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173736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DC2626"/>
                </a:solidFill>
                <a:latin typeface="맑은 고딕"/>
                <a:ea typeface="맑은 고딕"/>
              </a:rPr>
              <a:t>학습 기반(YOLO) 방식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48840"/>
            <a:ext cx="48463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dirty="0">
                <a:solidFill>
                  <a:srgbClr val="11243B"/>
                </a:solidFill>
                <a:latin typeface="맑은 고딕"/>
                <a:ea typeface="맑은 고딕"/>
              </a:rPr>
              <a:t>· </a:t>
            </a:r>
            <a:r>
              <a:rPr sz="1300" b="0" dirty="0" err="1">
                <a:solidFill>
                  <a:srgbClr val="11243B"/>
                </a:solidFill>
                <a:latin typeface="맑은 고딕"/>
                <a:ea typeface="맑은 고딕"/>
              </a:rPr>
              <a:t>학습</a:t>
            </a:r>
            <a:r>
              <a:rPr sz="1300" b="0" dirty="0">
                <a:solidFill>
                  <a:srgbClr val="11243B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1243B"/>
                </a:solidFill>
                <a:latin typeface="맑은 고딕"/>
                <a:ea typeface="맑은 고딕"/>
              </a:rPr>
              <a:t>인스턴스</a:t>
            </a:r>
            <a:r>
              <a:rPr sz="1300" b="0" dirty="0">
                <a:solidFill>
                  <a:srgbClr val="11243B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1243B"/>
                </a:solidFill>
                <a:latin typeface="맑은 고딕"/>
                <a:ea typeface="맑은 고딕"/>
              </a:rPr>
              <a:t>다양성</a:t>
            </a:r>
            <a:r>
              <a:rPr sz="1300" b="0" dirty="0">
                <a:solidFill>
                  <a:srgbClr val="11243B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1243B"/>
                </a:solidFill>
                <a:latin typeface="맑은 고딕"/>
                <a:ea typeface="맑은 고딕"/>
              </a:rPr>
              <a:t>부족</a:t>
            </a:r>
            <a:r>
              <a:rPr sz="1300" b="0" dirty="0">
                <a:solidFill>
                  <a:srgbClr val="11243B"/>
                </a:solidFill>
                <a:latin typeface="맑은 고딕"/>
                <a:ea typeface="맑은 고딕"/>
              </a:rPr>
              <a:t>(14장)</a:t>
            </a:r>
          </a:p>
          <a:p>
            <a:pPr algn="l">
              <a:lnSpc>
                <a:spcPct val="125000"/>
              </a:lnSpc>
            </a:pPr>
            <a:r>
              <a:rPr sz="1300" b="0" dirty="0">
                <a:solidFill>
                  <a:srgbClr val="11243B"/>
                </a:solidFill>
                <a:latin typeface="맑은 고딕"/>
                <a:ea typeface="맑은 고딕"/>
              </a:rPr>
              <a:t>· held-out(</a:t>
            </a:r>
            <a:r>
              <a:rPr sz="1300" b="0" dirty="0" err="1">
                <a:solidFill>
                  <a:srgbClr val="11243B"/>
                </a:solidFill>
                <a:latin typeface="맑은 고딕"/>
                <a:ea typeface="맑은 고딕"/>
              </a:rPr>
              <a:t>미학습</a:t>
            </a:r>
            <a:r>
              <a:rPr sz="1300" b="0" dirty="0">
                <a:solidFill>
                  <a:srgbClr val="11243B"/>
                </a:solidFill>
                <a:latin typeface="맑은 고딕"/>
                <a:ea typeface="맑은 고딕"/>
              </a:rPr>
              <a:t>) </a:t>
            </a:r>
            <a:r>
              <a:rPr sz="1300" b="0" dirty="0" err="1">
                <a:solidFill>
                  <a:srgbClr val="11243B"/>
                </a:solidFill>
                <a:latin typeface="맑은 고딕"/>
                <a:ea typeface="맑은 고딕"/>
              </a:rPr>
              <a:t>이미지에서</a:t>
            </a:r>
            <a:r>
              <a:rPr sz="1300" b="0" dirty="0">
                <a:solidFill>
                  <a:srgbClr val="11243B"/>
                </a:solidFill>
                <a:latin typeface="맑은 고딕"/>
                <a:ea typeface="맑은 고딕"/>
              </a:rPr>
              <a:t> </a:t>
            </a:r>
            <a:r>
              <a:rPr lang="en-US" sz="1300" b="0" dirty="0">
                <a:solidFill>
                  <a:srgbClr val="11243B"/>
                </a:solidFill>
                <a:latin typeface="맑은 고딕"/>
                <a:ea typeface="맑은 고딕"/>
              </a:rPr>
              <a:t>	</a:t>
            </a:r>
            <a:r>
              <a:rPr sz="1300" b="0" dirty="0" err="1">
                <a:solidFill>
                  <a:srgbClr val="11243B"/>
                </a:solidFill>
                <a:latin typeface="맑은 고딕"/>
                <a:ea typeface="맑은 고딕"/>
              </a:rPr>
              <a:t>화면에</a:t>
            </a:r>
            <a:r>
              <a:rPr sz="1300" b="0" dirty="0">
                <a:solidFill>
                  <a:srgbClr val="11243B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1243B"/>
                </a:solidFill>
                <a:latin typeface="맑은 고딕"/>
                <a:ea typeface="맑은 고딕"/>
              </a:rPr>
              <a:t>뚜렷이</a:t>
            </a:r>
            <a:r>
              <a:rPr sz="1300" b="0" dirty="0">
                <a:solidFill>
                  <a:srgbClr val="11243B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1243B"/>
                </a:solidFill>
                <a:latin typeface="맑은 고딕"/>
                <a:ea typeface="맑은 고딕"/>
              </a:rPr>
              <a:t>보이는</a:t>
            </a:r>
            <a:r>
              <a:rPr sz="1300" b="0" dirty="0">
                <a:solidFill>
                  <a:srgbClr val="11243B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1243B"/>
                </a:solidFill>
                <a:latin typeface="맑은 고딕"/>
                <a:ea typeface="맑은 고딕"/>
              </a:rPr>
              <a:t>나사를</a:t>
            </a:r>
            <a:r>
              <a:rPr sz="1300" b="0" dirty="0">
                <a:solidFill>
                  <a:srgbClr val="11243B"/>
                </a:solidFill>
                <a:latin typeface="맑은 고딕"/>
                <a:ea typeface="맑은 고딕"/>
              </a:rPr>
              <a:t> 0개 </a:t>
            </a:r>
            <a:r>
              <a:rPr sz="1300" b="0" dirty="0" err="1">
                <a:solidFill>
                  <a:srgbClr val="11243B"/>
                </a:solidFill>
                <a:latin typeface="맑은 고딕"/>
                <a:ea typeface="맑은 고딕"/>
              </a:rPr>
              <a:t>검출</a:t>
            </a:r>
            <a:endParaRPr sz="1300" b="0" dirty="0">
              <a:solidFill>
                <a:srgbClr val="11243B"/>
              </a:solidFill>
              <a:latin typeface="맑은 고딕"/>
              <a:ea typeface="맑은 고딕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324612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6A34A"/>
                </a:solidFill>
                <a:latin typeface="맑은 고딕"/>
                <a:ea typeface="맑은 고딕"/>
              </a:rPr>
              <a:t>색상(명도) 기반 고전 CV 전환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657600"/>
            <a:ext cx="48463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dirty="0">
                <a:solidFill>
                  <a:srgbClr val="11243B"/>
                </a:solidFill>
                <a:latin typeface="맑은 고딕"/>
                <a:ea typeface="맑은 고딕"/>
              </a:rPr>
              <a:t>· </a:t>
            </a:r>
            <a:r>
              <a:rPr sz="1300" b="0" dirty="0" err="1">
                <a:solidFill>
                  <a:srgbClr val="11243B"/>
                </a:solidFill>
                <a:latin typeface="맑은 고딕"/>
                <a:ea typeface="맑은 고딕"/>
              </a:rPr>
              <a:t>은색</a:t>
            </a:r>
            <a:r>
              <a:rPr sz="1300" b="0" dirty="0">
                <a:solidFill>
                  <a:srgbClr val="11243B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1243B"/>
                </a:solidFill>
                <a:latin typeface="맑은 고딕"/>
                <a:ea typeface="맑은 고딕"/>
              </a:rPr>
              <a:t>나사</a:t>
            </a:r>
            <a:r>
              <a:rPr sz="1300" b="0" dirty="0">
                <a:solidFill>
                  <a:srgbClr val="11243B"/>
                </a:solidFill>
                <a:latin typeface="맑은 고딕"/>
                <a:ea typeface="맑은 고딕"/>
              </a:rPr>
              <a:t> vs </a:t>
            </a:r>
            <a:r>
              <a:rPr sz="1300" b="0" dirty="0" err="1">
                <a:solidFill>
                  <a:srgbClr val="11243B"/>
                </a:solidFill>
                <a:latin typeface="맑은 고딕"/>
                <a:ea typeface="맑은 고딕"/>
              </a:rPr>
              <a:t>무광</a:t>
            </a:r>
            <a:r>
              <a:rPr sz="1300" b="0" dirty="0">
                <a:solidFill>
                  <a:srgbClr val="11243B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1243B"/>
                </a:solidFill>
                <a:latin typeface="맑은 고딕"/>
                <a:ea typeface="맑은 고딕"/>
              </a:rPr>
              <a:t>검정</a:t>
            </a:r>
            <a:r>
              <a:rPr sz="1300" b="0" dirty="0">
                <a:solidFill>
                  <a:srgbClr val="11243B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1243B"/>
                </a:solidFill>
                <a:latin typeface="맑은 고딕"/>
                <a:ea typeface="맑은 고딕"/>
              </a:rPr>
              <a:t>배경</a:t>
            </a:r>
            <a:r>
              <a:rPr sz="1300" b="0" dirty="0">
                <a:solidFill>
                  <a:srgbClr val="11243B"/>
                </a:solidFill>
                <a:latin typeface="맑은 고딕"/>
                <a:ea typeface="맑은 고딕"/>
              </a:rPr>
              <a:t> → Otsu </a:t>
            </a:r>
            <a:r>
              <a:rPr sz="1300" b="0" dirty="0" err="1">
                <a:solidFill>
                  <a:srgbClr val="11243B"/>
                </a:solidFill>
                <a:latin typeface="맑은 고딕"/>
                <a:ea typeface="맑은 고딕"/>
              </a:rPr>
              <a:t>임계값만으로</a:t>
            </a:r>
            <a:r>
              <a:rPr sz="1300" b="0" dirty="0">
                <a:solidFill>
                  <a:srgbClr val="11243B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1243B"/>
                </a:solidFill>
                <a:latin typeface="맑은 고딕"/>
                <a:ea typeface="맑은 고딕"/>
              </a:rPr>
              <a:t>학습</a:t>
            </a:r>
            <a:r>
              <a:rPr sz="1300" b="0" dirty="0">
                <a:solidFill>
                  <a:srgbClr val="11243B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1243B"/>
                </a:solidFill>
                <a:latin typeface="맑은 고딕"/>
                <a:ea typeface="맑은 고딕"/>
              </a:rPr>
              <a:t>없이</a:t>
            </a:r>
            <a:r>
              <a:rPr sz="1300" b="0" dirty="0">
                <a:solidFill>
                  <a:srgbClr val="11243B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1243B"/>
                </a:solidFill>
                <a:latin typeface="맑은 고딕"/>
                <a:ea typeface="맑은 고딕"/>
              </a:rPr>
              <a:t>검출</a:t>
            </a:r>
            <a:endParaRPr sz="1300" b="0" dirty="0">
              <a:solidFill>
                <a:srgbClr val="11243B"/>
              </a:solidFill>
              <a:latin typeface="맑은 고딕"/>
              <a:ea typeface="맑은 고딕"/>
            </a:endParaRPr>
          </a:p>
          <a:p>
            <a:pPr algn="l">
              <a:lnSpc>
                <a:spcPct val="125000"/>
              </a:lnSpc>
            </a:pPr>
            <a:r>
              <a:rPr sz="1300" b="0" dirty="0">
                <a:solidFill>
                  <a:srgbClr val="11243B"/>
                </a:solidFill>
                <a:latin typeface="맑은 고딕"/>
                <a:ea typeface="맑은 고딕"/>
              </a:rPr>
              <a:t>· </a:t>
            </a:r>
            <a:r>
              <a:rPr sz="1300" b="0" dirty="0" err="1">
                <a:solidFill>
                  <a:srgbClr val="11243B"/>
                </a:solidFill>
                <a:latin typeface="맑은 고딕"/>
                <a:ea typeface="맑은 고딕"/>
              </a:rPr>
              <a:t>실측</a:t>
            </a:r>
            <a:r>
              <a:rPr sz="1300" b="0" dirty="0">
                <a:solidFill>
                  <a:srgbClr val="11243B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1243B"/>
                </a:solidFill>
                <a:latin typeface="맑은 고딕"/>
                <a:ea typeface="맑은 고딕"/>
              </a:rPr>
              <a:t>오차</a:t>
            </a:r>
            <a:r>
              <a:rPr sz="1300" b="0" dirty="0">
                <a:solidFill>
                  <a:srgbClr val="11243B"/>
                </a:solidFill>
                <a:latin typeface="맑은 고딕"/>
                <a:ea typeface="맑은 고딕"/>
              </a:rPr>
              <a:t> -1.6% ~ -7.6% 로 </a:t>
            </a:r>
            <a:r>
              <a:rPr sz="1300" b="0" dirty="0" err="1">
                <a:solidFill>
                  <a:srgbClr val="11243B"/>
                </a:solidFill>
                <a:latin typeface="맑은 고딕"/>
                <a:ea typeface="맑은 고딕"/>
              </a:rPr>
              <a:t>대폭</a:t>
            </a:r>
            <a:r>
              <a:rPr sz="1300" b="0" dirty="0">
                <a:solidFill>
                  <a:srgbClr val="11243B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1243B"/>
                </a:solidFill>
                <a:latin typeface="맑은 고딕"/>
                <a:ea typeface="맑은 고딕"/>
              </a:rPr>
              <a:t>개선</a:t>
            </a:r>
            <a:endParaRPr sz="1300" b="0" dirty="0">
              <a:solidFill>
                <a:srgbClr val="11243B"/>
              </a:solidFill>
              <a:latin typeface="맑은 고딕"/>
              <a:ea typeface="맑은 고딕"/>
            </a:endParaRPr>
          </a:p>
          <a:p>
            <a:pPr algn="l">
              <a:lnSpc>
                <a:spcPct val="125000"/>
              </a:lnSpc>
            </a:pPr>
            <a:r>
              <a:rPr sz="1300" b="0" dirty="0">
                <a:solidFill>
                  <a:srgbClr val="11243B"/>
                </a:solidFill>
                <a:latin typeface="맑은 고딕"/>
                <a:ea typeface="맑은 고딕"/>
              </a:rPr>
              <a:t>· </a:t>
            </a:r>
            <a:r>
              <a:rPr sz="1300" b="0" dirty="0" err="1">
                <a:solidFill>
                  <a:srgbClr val="11243B"/>
                </a:solidFill>
                <a:latin typeface="맑은 고딕"/>
                <a:ea typeface="맑은 고딕"/>
              </a:rPr>
              <a:t>기울어진</a:t>
            </a:r>
            <a:r>
              <a:rPr sz="1300" b="0" dirty="0">
                <a:solidFill>
                  <a:srgbClr val="11243B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1243B"/>
                </a:solidFill>
                <a:latin typeface="맑은 고딕"/>
                <a:ea typeface="맑은 고딕"/>
              </a:rPr>
              <a:t>나사</a:t>
            </a:r>
            <a:r>
              <a:rPr sz="1300" b="0" dirty="0">
                <a:solidFill>
                  <a:srgbClr val="11243B"/>
                </a:solidFill>
                <a:latin typeface="맑은 고딕"/>
                <a:ea typeface="맑은 고딕"/>
              </a:rPr>
              <a:t>(</a:t>
            </a:r>
            <a:r>
              <a:rPr sz="1300" b="0" dirty="0" err="1">
                <a:solidFill>
                  <a:srgbClr val="11243B"/>
                </a:solidFill>
                <a:latin typeface="맑은 고딕"/>
                <a:ea typeface="맑은 고딕"/>
              </a:rPr>
              <a:t>타원</a:t>
            </a:r>
            <a:r>
              <a:rPr sz="1300" b="0" dirty="0">
                <a:solidFill>
                  <a:srgbClr val="11243B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1243B"/>
                </a:solidFill>
                <a:latin typeface="맑은 고딕"/>
                <a:ea typeface="맑은 고딕"/>
              </a:rPr>
              <a:t>투영</a:t>
            </a:r>
            <a:r>
              <a:rPr sz="1300" b="0" dirty="0">
                <a:solidFill>
                  <a:srgbClr val="11243B"/>
                </a:solidFill>
                <a:latin typeface="맑은 고딕"/>
                <a:ea typeface="맑은 고딕"/>
              </a:rPr>
              <a:t>)는 </a:t>
            </a:r>
            <a:r>
              <a:rPr sz="1300" b="0" dirty="0" err="1">
                <a:solidFill>
                  <a:srgbClr val="11243B"/>
                </a:solidFill>
                <a:latin typeface="맑은 고딕"/>
                <a:ea typeface="맑은 고딕"/>
              </a:rPr>
              <a:t>aspect_ratio로</a:t>
            </a:r>
            <a:r>
              <a:rPr sz="1300" b="0" dirty="0">
                <a:solidFill>
                  <a:srgbClr val="11243B"/>
                </a:solidFill>
                <a:latin typeface="맑은 고딕"/>
                <a:ea typeface="맑은 고딕"/>
              </a:rPr>
              <a:t> '</a:t>
            </a:r>
            <a:r>
              <a:rPr sz="1300" b="0" dirty="0" err="1">
                <a:solidFill>
                  <a:srgbClr val="11243B"/>
                </a:solidFill>
                <a:latin typeface="맑은 고딕"/>
                <a:ea typeface="맑은 고딕"/>
              </a:rPr>
              <a:t>틀어짐</a:t>
            </a:r>
            <a:r>
              <a:rPr sz="1300" b="0" dirty="0">
                <a:solidFill>
                  <a:srgbClr val="11243B"/>
                </a:solidFill>
                <a:latin typeface="맑은 고딕"/>
                <a:ea typeface="맑은 고딕"/>
              </a:rPr>
              <a:t>' </a:t>
            </a:r>
            <a:r>
              <a:rPr sz="1300" b="0" dirty="0" err="1">
                <a:solidFill>
                  <a:srgbClr val="11243B"/>
                </a:solidFill>
                <a:latin typeface="맑은 고딕"/>
                <a:ea typeface="맑은 고딕"/>
              </a:rPr>
              <a:t>별도</a:t>
            </a:r>
            <a:r>
              <a:rPr sz="1300" b="0" dirty="0">
                <a:solidFill>
                  <a:srgbClr val="11243B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1243B"/>
                </a:solidFill>
                <a:latin typeface="맑은 고딕"/>
                <a:ea typeface="맑은 고딕"/>
              </a:rPr>
              <a:t>분류</a:t>
            </a:r>
            <a:endParaRPr sz="1300" b="0" dirty="0">
              <a:solidFill>
                <a:srgbClr val="11243B"/>
              </a:solidFill>
              <a:latin typeface="맑은 고딕"/>
              <a:ea typeface="맑은 고딕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296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  <a:ea typeface="맑은 고딕"/>
              </a:rPr>
              <a:t>우측: 실제 캡처 결과 · 초록=정상 나사, 빨강=틀어짐, 노랑=stud_hole, 라벨에 mm값 표기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02920"/>
            <a:ext cx="54864" cy="384048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F6FED"/>
                </a:solidFill>
                <a:latin typeface="맑은 고딕"/>
                <a:ea typeface="맑은 고딕"/>
              </a:rPr>
              <a:t>5. PX → MM 환산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49808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1243B"/>
                </a:solidFill>
                <a:latin typeface="맑은 고딕"/>
                <a:ea typeface="맑은 고딕"/>
              </a:rPr>
              <a:t>지름 측정 정확도 검증 — 평면-호모그래피 보정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91640"/>
            <a:ext cx="3291840" cy="1828800"/>
          </a:xfrm>
          <a:prstGeom prst="rect">
            <a:avLst/>
          </a:prstGeom>
          <a:solidFill>
            <a:srgbClr val="F7F8FA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1856232"/>
            <a:ext cx="28346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F6FED"/>
                </a:solidFill>
                <a:latin typeface="맑은 고딕"/>
                <a:ea typeface="맑은 고딕"/>
              </a:rPr>
              <a:t>3.1% → 0.3%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606040"/>
            <a:ext cx="2834640" cy="6924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dirty="0" err="1">
                <a:solidFill>
                  <a:srgbClr val="11243B"/>
                </a:solidFill>
                <a:latin typeface="맑은 고딕"/>
                <a:ea typeface="맑은 고딕"/>
              </a:rPr>
              <a:t>지름</a:t>
            </a:r>
            <a:r>
              <a:rPr sz="1300" b="1" dirty="0">
                <a:solidFill>
                  <a:srgbClr val="11243B"/>
                </a:solidFill>
                <a:latin typeface="맑은 고딕"/>
                <a:ea typeface="맑은 고딕"/>
              </a:rPr>
              <a:t> </a:t>
            </a:r>
            <a:r>
              <a:rPr sz="1300" b="1" dirty="0" err="1">
                <a:solidFill>
                  <a:srgbClr val="11243B"/>
                </a:solidFill>
                <a:latin typeface="맑은 고딕"/>
                <a:ea typeface="맑은 고딕"/>
              </a:rPr>
              <a:t>측정</a:t>
            </a:r>
            <a:r>
              <a:rPr sz="1300" b="1" dirty="0">
                <a:solidFill>
                  <a:srgbClr val="11243B"/>
                </a:solidFill>
                <a:latin typeface="맑은 고딕"/>
                <a:ea typeface="맑은 고딕"/>
              </a:rPr>
              <a:t> </a:t>
            </a:r>
            <a:r>
              <a:rPr sz="1300" b="1" dirty="0" err="1">
                <a:solidFill>
                  <a:srgbClr val="11243B"/>
                </a:solidFill>
                <a:latin typeface="맑은 고딕"/>
                <a:ea typeface="맑은 고딕"/>
              </a:rPr>
              <a:t>오차</a:t>
            </a:r>
            <a:r>
              <a:rPr sz="1300" b="1" dirty="0">
                <a:solidFill>
                  <a:srgbClr val="11243B"/>
                </a:solidFill>
                <a:latin typeface="맑은 고딕"/>
                <a:ea typeface="맑은 고딕"/>
              </a:rPr>
              <a:t> (</a:t>
            </a:r>
            <a:r>
              <a:rPr sz="1300" b="1" dirty="0" err="1">
                <a:solidFill>
                  <a:srgbClr val="11243B"/>
                </a:solidFill>
                <a:latin typeface="맑은 고딕"/>
                <a:ea typeface="맑은 고딕"/>
              </a:rPr>
              <a:t>합성</a:t>
            </a:r>
            <a:r>
              <a:rPr sz="1300" b="1" dirty="0">
                <a:solidFill>
                  <a:srgbClr val="11243B"/>
                </a:solidFill>
                <a:latin typeface="맑은 고딕"/>
                <a:ea typeface="맑은 고딕"/>
              </a:rPr>
              <a:t> </a:t>
            </a:r>
            <a:r>
              <a:rPr sz="1300" b="1" dirty="0" err="1">
                <a:solidFill>
                  <a:srgbClr val="11243B"/>
                </a:solidFill>
                <a:latin typeface="맑은 고딕"/>
                <a:ea typeface="맑은 고딕"/>
              </a:rPr>
              <a:t>정답</a:t>
            </a:r>
            <a:r>
              <a:rPr sz="1300" b="1" dirty="0">
                <a:solidFill>
                  <a:srgbClr val="11243B"/>
                </a:solidFill>
                <a:latin typeface="맑은 고딕"/>
                <a:ea typeface="맑은 고딕"/>
              </a:rPr>
              <a:t> </a:t>
            </a:r>
            <a:r>
              <a:rPr sz="1300" b="1" dirty="0" err="1">
                <a:solidFill>
                  <a:srgbClr val="11243B"/>
                </a:solidFill>
                <a:latin typeface="맑은 고딕"/>
                <a:ea typeface="맑은 고딕"/>
              </a:rPr>
              <a:t>데이터</a:t>
            </a:r>
            <a:r>
              <a:rPr sz="1300" b="1" dirty="0">
                <a:solidFill>
                  <a:srgbClr val="11243B"/>
                </a:solidFill>
                <a:latin typeface="맑은 고딕"/>
                <a:ea typeface="맑은 고딕"/>
              </a:rPr>
              <a:t> </a:t>
            </a:r>
            <a:r>
              <a:rPr sz="1300" b="1" dirty="0" err="1">
                <a:solidFill>
                  <a:srgbClr val="11243B"/>
                </a:solidFill>
                <a:latin typeface="맑은 고딕"/>
                <a:ea typeface="맑은 고딕"/>
              </a:rPr>
              <a:t>기준</a:t>
            </a:r>
            <a:r>
              <a:rPr sz="1300" b="1" dirty="0">
                <a:solidFill>
                  <a:srgbClr val="11243B"/>
                </a:solidFill>
                <a:latin typeface="맑은 고딕"/>
                <a:ea typeface="맑은 고딕"/>
              </a:rPr>
              <a:t>)</a:t>
            </a:r>
            <a:endParaRPr lang="en-US" sz="1300" b="1" dirty="0">
              <a:solidFill>
                <a:srgbClr val="11243B"/>
              </a:solidFill>
              <a:latin typeface="맑은 고딕"/>
              <a:ea typeface="맑은 고딕"/>
            </a:endParaRPr>
          </a:p>
          <a:p>
            <a:pPr algn="l">
              <a:lnSpc>
                <a:spcPct val="100000"/>
              </a:lnSpc>
            </a:pPr>
            <a:endParaRPr sz="1300" b="1" dirty="0">
              <a:solidFill>
                <a:srgbClr val="11243B"/>
              </a:solidFill>
              <a:latin typeface="맑은 고딕"/>
              <a:ea typeface="맑은 고딕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51560" y="3081528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맑은 고딕"/>
                <a:ea typeface="맑은 고딕"/>
              </a:rPr>
              <a:t>패널 기울기로 인한 시야각 오차를 depth 평면 피팅으로 보정, 10배 개선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703320"/>
            <a:ext cx="3291840" cy="1828800"/>
          </a:xfrm>
          <a:prstGeom prst="rect">
            <a:avLst/>
          </a:prstGeom>
          <a:solidFill>
            <a:srgbClr val="F7F8FA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3867912"/>
            <a:ext cx="28346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F6FED"/>
                </a:solidFill>
                <a:latin typeface="맑은 고딕"/>
                <a:ea typeface="맑은 고딕"/>
              </a:rPr>
              <a:t>0.9999998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754880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1243B"/>
                </a:solidFill>
                <a:latin typeface="맑은 고딕"/>
                <a:ea typeface="맑은 고딕"/>
              </a:rPr>
              <a:t>평면 법선 추정 정확도 (내적)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5093208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맑은 고딕"/>
                <a:ea typeface="맑은 고딕"/>
              </a:rPr>
              <a:t>합성 3D 기울기 시뮬레이션으로 알고리즘 자체를 정량 검증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1691640"/>
            <a:ext cx="6949440" cy="28646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 dirty="0" err="1">
                <a:solidFill>
                  <a:srgbClr val="11243B"/>
                </a:solidFill>
                <a:latin typeface="맑은 고딕"/>
                <a:ea typeface="맑은 고딕"/>
              </a:rPr>
              <a:t>검증</a:t>
            </a:r>
            <a:r>
              <a:rPr sz="1350" b="0" dirty="0">
                <a:solidFill>
                  <a:srgbClr val="11243B"/>
                </a:solidFill>
                <a:latin typeface="맑은 고딕"/>
                <a:ea typeface="맑은 고딕"/>
              </a:rPr>
              <a:t> </a:t>
            </a:r>
            <a:r>
              <a:rPr sz="1350" b="0" dirty="0" err="1">
                <a:solidFill>
                  <a:srgbClr val="11243B"/>
                </a:solidFill>
                <a:latin typeface="맑은 고딕"/>
                <a:ea typeface="맑은 고딕"/>
              </a:rPr>
              <a:t>방법</a:t>
            </a:r>
            <a:endParaRPr sz="1350" b="0" dirty="0">
              <a:solidFill>
                <a:srgbClr val="11243B"/>
              </a:solidFill>
              <a:latin typeface="맑은 고딕"/>
              <a:ea typeface="맑은 고딕"/>
            </a:endParaRPr>
          </a:p>
          <a:p>
            <a:pPr algn="l">
              <a:lnSpc>
                <a:spcPct val="135000"/>
              </a:lnSpc>
            </a:pPr>
            <a:r>
              <a:rPr sz="1350" b="0" dirty="0" err="1">
                <a:solidFill>
                  <a:srgbClr val="11243B"/>
                </a:solidFill>
                <a:latin typeface="맑은 고딕"/>
                <a:ea typeface="맑은 고딕"/>
              </a:rPr>
              <a:t>실카메라로는 '정답 지름'을 모름 → 알려진 각도·반지름의 3D 원을 합성해 알고리즘만 따로 검증</a:t>
            </a:r>
          </a:p>
          <a:p>
            <a:pPr algn="l">
              <a:lnSpc>
                <a:spcPct val="135000"/>
              </a:lnSpc>
            </a:pPr>
            <a:endParaRPr lang="en-US" sz="1350" b="0" dirty="0">
              <a:solidFill>
                <a:srgbClr val="11243B"/>
              </a:solidFill>
              <a:latin typeface="맑은 고딕"/>
              <a:ea typeface="맑은 고딕"/>
            </a:endParaRPr>
          </a:p>
          <a:p>
            <a:pPr algn="l">
              <a:lnSpc>
                <a:spcPct val="135000"/>
              </a:lnSpc>
            </a:pPr>
            <a:endParaRPr lang="en-US" sz="1350" dirty="0">
              <a:solidFill>
                <a:srgbClr val="11243B"/>
              </a:solidFill>
              <a:latin typeface="맑은 고딕"/>
              <a:ea typeface="맑은 고딕"/>
            </a:endParaRPr>
          </a:p>
          <a:p>
            <a:pPr algn="l">
              <a:lnSpc>
                <a:spcPct val="135000"/>
              </a:lnSpc>
            </a:pPr>
            <a:endParaRPr lang="en-US" sz="1350" b="0" dirty="0">
              <a:solidFill>
                <a:srgbClr val="11243B"/>
              </a:solidFill>
              <a:latin typeface="맑은 고딕"/>
              <a:ea typeface="맑은 고딕"/>
            </a:endParaRPr>
          </a:p>
          <a:p>
            <a:pPr algn="l">
              <a:lnSpc>
                <a:spcPct val="135000"/>
              </a:lnSpc>
            </a:pPr>
            <a:endParaRPr sz="1350" b="0" dirty="0">
              <a:solidFill>
                <a:srgbClr val="11243B"/>
              </a:solidFill>
              <a:latin typeface="맑은 고딕"/>
              <a:ea typeface="맑은 고딕"/>
            </a:endParaRPr>
          </a:p>
          <a:p>
            <a:pPr algn="l">
              <a:lnSpc>
                <a:spcPct val="135000"/>
              </a:lnSpc>
            </a:pPr>
            <a:r>
              <a:rPr sz="1350" b="0" dirty="0" err="1">
                <a:solidFill>
                  <a:srgbClr val="11243B"/>
                </a:solidFill>
                <a:latin typeface="맑은 고딕"/>
                <a:ea typeface="맑은 고딕"/>
              </a:rPr>
              <a:t>실제</a:t>
            </a:r>
            <a:r>
              <a:rPr sz="1350" b="0" dirty="0">
                <a:solidFill>
                  <a:srgbClr val="11243B"/>
                </a:solidFill>
                <a:latin typeface="맑은 고딕"/>
                <a:ea typeface="맑은 고딕"/>
              </a:rPr>
              <a:t> </a:t>
            </a:r>
            <a:r>
              <a:rPr sz="1350" b="0" dirty="0" err="1">
                <a:solidFill>
                  <a:srgbClr val="11243B"/>
                </a:solidFill>
                <a:latin typeface="맑은 고딕"/>
                <a:ea typeface="맑은 고딕"/>
              </a:rPr>
              <a:t>시편</a:t>
            </a:r>
            <a:r>
              <a:rPr sz="1350" b="0" dirty="0">
                <a:solidFill>
                  <a:srgbClr val="11243B"/>
                </a:solidFill>
                <a:latin typeface="맑은 고딕"/>
                <a:ea typeface="맑은 고딕"/>
              </a:rPr>
              <a:t> </a:t>
            </a:r>
            <a:r>
              <a:rPr sz="1350" b="0" dirty="0" err="1">
                <a:solidFill>
                  <a:srgbClr val="11243B"/>
                </a:solidFill>
                <a:latin typeface="맑은 고딕"/>
                <a:ea typeface="맑은 고딕"/>
              </a:rPr>
              <a:t>적용</a:t>
            </a:r>
            <a:r>
              <a:rPr sz="1350" b="0" dirty="0">
                <a:solidFill>
                  <a:srgbClr val="11243B"/>
                </a:solidFill>
                <a:latin typeface="맑은 고딕"/>
                <a:ea typeface="맑은 고딕"/>
              </a:rPr>
              <a:t> </a:t>
            </a:r>
            <a:r>
              <a:rPr sz="1350" b="0" dirty="0" err="1">
                <a:solidFill>
                  <a:srgbClr val="11243B"/>
                </a:solidFill>
                <a:latin typeface="맑은 고딕"/>
                <a:ea typeface="맑은 고딕"/>
              </a:rPr>
              <a:t>결과</a:t>
            </a:r>
            <a:endParaRPr sz="1350" b="0" dirty="0">
              <a:solidFill>
                <a:srgbClr val="11243B"/>
              </a:solidFill>
              <a:latin typeface="맑은 고딕"/>
              <a:ea typeface="맑은 고딕"/>
            </a:endParaRPr>
          </a:p>
          <a:p>
            <a:pPr algn="l">
              <a:lnSpc>
                <a:spcPct val="135000"/>
              </a:lnSpc>
            </a:pPr>
            <a:r>
              <a:rPr sz="1350" b="0" dirty="0" err="1">
                <a:solidFill>
                  <a:srgbClr val="11243B"/>
                </a:solidFill>
                <a:latin typeface="맑은 고딕"/>
                <a:ea typeface="맑은 고딕"/>
              </a:rPr>
              <a:t>이번 시편은 기울기가 작아 오차(+16%) 거의 그대로 남음 — 원인은 기울기가 아니라 세그멘테이션 마스크 해상도로 규명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  <a:ea typeface="맑은 고딕"/>
              </a:rPr>
              <a:t>정직한 결과 보고: 알고리즘 정확성은 합성 데이터로 검증됨, 실제 오차 원인 규명은 별도 성과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02920"/>
            <a:ext cx="54864" cy="384048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F6FED"/>
                </a:solidFill>
                <a:latin typeface="맑은 고딕"/>
                <a:ea typeface="맑은 고딕"/>
              </a:rPr>
              <a:t>6. 삽입 불량 판단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49808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1243B"/>
                </a:solidFill>
                <a:latin typeface="맑은 고딕"/>
                <a:ea typeface="맑은 고딕"/>
              </a:rPr>
              <a:t>최종 판정 결과물</a:t>
            </a:r>
          </a:p>
        </p:txBody>
      </p:sp>
      <p:sp>
        <p:nvSpPr>
          <p:cNvPr id="5" name="Rectangle 4"/>
          <p:cNvSpPr/>
          <p:nvPr/>
        </p:nvSpPr>
        <p:spPr>
          <a:xfrm>
            <a:off x="2907792" y="2001964"/>
            <a:ext cx="6345936" cy="3585591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6_insertion_check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0" y="2020252"/>
            <a:ext cx="6309360" cy="354901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2011680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A34A"/>
                </a:solidFill>
                <a:latin typeface="맑은 고딕"/>
                <a:ea typeface="맑은 고딕"/>
              </a:rPr>
              <a:t>정상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2148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7280"/>
                </a:solidFill>
                <a:latin typeface="맑은 고딕"/>
                <a:ea typeface="맑은 고딕"/>
              </a:rPr>
              <a:t>초록 원으로 표시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7280"/>
                </a:solidFill>
                <a:latin typeface="맑은 고딕"/>
                <a:ea typeface="맑은 고딕"/>
              </a:rPr>
              <a:t>aspect_ratio·중심좌표 기준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DC2626"/>
                </a:solidFill>
                <a:latin typeface="맑은 고딕"/>
                <a:ea typeface="맑은 고딕"/>
              </a:rPr>
              <a:t>이상(틀어짐·덜박힘)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57600"/>
            <a:ext cx="2148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dirty="0" err="1">
                <a:solidFill>
                  <a:srgbClr val="6B7280"/>
                </a:solidFill>
                <a:latin typeface="맑은 고딕"/>
                <a:ea typeface="맑은 고딕"/>
              </a:rPr>
              <a:t>빨강 원으로 표시</a:t>
            </a:r>
            <a:endParaRPr sz="1100" b="0" dirty="0">
              <a:solidFill>
                <a:srgbClr val="6B7280"/>
              </a:solidFill>
              <a:latin typeface="맑은 고딕"/>
              <a:ea typeface="맑은 고딕"/>
            </a:endParaRPr>
          </a:p>
          <a:p>
            <a:pPr algn="l">
              <a:lnSpc>
                <a:spcPct val="130000"/>
              </a:lnSpc>
            </a:pPr>
            <a:r>
              <a:rPr sz="1100" b="0" dirty="0" err="1">
                <a:solidFill>
                  <a:srgbClr val="6B7280"/>
                </a:solidFill>
                <a:latin typeface="맑은 고딕"/>
                <a:ea typeface="맑은 고딕"/>
              </a:rPr>
              <a:t>라벨 텍스트로 원인 구분(각도/깊이)</a:t>
            </a:r>
            <a:endParaRPr sz="1100" b="0" dirty="0">
              <a:solidFill>
                <a:srgbClr val="6B7280"/>
              </a:solidFill>
              <a:latin typeface="맑은 고딕"/>
              <a:ea typeface="맑은 고딕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" y="4572000"/>
            <a:ext cx="214884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dirty="0" err="1">
                <a:solidFill>
                  <a:srgbClr val="FFC000"/>
                </a:solidFill>
                <a:latin typeface="맑은 고딕"/>
                <a:ea typeface="맑은 고딕"/>
              </a:rPr>
              <a:t>구멍</a:t>
            </a:r>
            <a:endParaRPr sz="1400" b="1" dirty="0">
              <a:solidFill>
                <a:srgbClr val="FFC000"/>
              </a:solidFill>
              <a:latin typeface="맑은 고딕"/>
              <a:ea typeface="맑은 고딕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0080" y="4937760"/>
            <a:ext cx="2148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7280"/>
                </a:solidFill>
                <a:latin typeface="맑은 고딕"/>
                <a:ea typeface="맑은 고딕"/>
              </a:rPr>
              <a:t>노랑 원 · mm 자동 라벨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  <a:ea typeface="맑은 고딕"/>
              </a:rPr>
              <a:t>한 장의 캡처에서 구멍 탐지 + 나사 상태(정상/덜박힘/틀어짐) 판정을 동시에 자동 표시 · 덜박힘 임계값 5.0mm 확정(53개 표본 이중분포 근거)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02920"/>
            <a:ext cx="54864" cy="384048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F6FED"/>
                </a:solidFill>
                <a:latin typeface="맑은 고딕"/>
                <a:ea typeface="맑은 고딕"/>
              </a:rPr>
              <a:t>7. 실시간 검출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49808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1243B"/>
                </a:solidFill>
                <a:latin typeface="맑은 고딕"/>
                <a:ea typeface="맑은 고딕"/>
              </a:rPr>
              <a:t>실시간 상태머신 &amp; 현장 검증</a:t>
            </a:r>
          </a:p>
        </p:txBody>
      </p:sp>
      <p:sp>
        <p:nvSpPr>
          <p:cNvPr id="5" name="Rectangle 4"/>
          <p:cNvSpPr/>
          <p:nvPr/>
        </p:nvSpPr>
        <p:spPr>
          <a:xfrm>
            <a:off x="5742432" y="1828800"/>
            <a:ext cx="5888736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05740" y="1554480"/>
            <a:ext cx="1051560" cy="777240"/>
          </a:xfrm>
          <a:prstGeom prst="round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  <a:ea typeface="맑은 고딕"/>
              </a:rPr>
              <a:t>WAITING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257300" y="1879092"/>
            <a:ext cx="320040" cy="128016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577340" y="1554480"/>
            <a:ext cx="1051560" cy="777240"/>
          </a:xfrm>
          <a:prstGeom prst="round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  <a:ea typeface="맑은 고딕"/>
              </a:rPr>
              <a:t>SETTLING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628900" y="1879092"/>
            <a:ext cx="320040" cy="128016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948940" y="1554480"/>
            <a:ext cx="1051560" cy="777240"/>
          </a:xfrm>
          <a:prstGeom prst="round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  <a:ea typeface="맑은 고딕"/>
              </a:rPr>
              <a:t>MEASURING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000500" y="1879092"/>
            <a:ext cx="320040" cy="128016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343400" y="1554480"/>
            <a:ext cx="1051560" cy="777240"/>
          </a:xfrm>
          <a:prstGeom prst="round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1" dirty="0">
                <a:solidFill>
                  <a:srgbClr val="FFFFFF"/>
                </a:solidFill>
                <a:latin typeface="맑은 고딕"/>
                <a:ea typeface="맑은 고딕"/>
              </a:rPr>
              <a:t>RESULT
SHOWN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633472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dirty="0" err="1">
                <a:solidFill>
                  <a:srgbClr val="6B7280"/>
                </a:solidFill>
                <a:latin typeface="맑은 고딕"/>
                <a:ea typeface="맑은 고딕"/>
              </a:rPr>
              <a:t>모션</a:t>
            </a:r>
            <a:r>
              <a:rPr sz="1100" b="0" dirty="0">
                <a:solidFill>
                  <a:srgbClr val="6B7280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6B7280"/>
                </a:solidFill>
                <a:latin typeface="맑은 고딕"/>
                <a:ea typeface="맑은 고딕"/>
              </a:rPr>
              <a:t>재감지</a:t>
            </a:r>
            <a:r>
              <a:rPr sz="1100" b="0" dirty="0">
                <a:solidFill>
                  <a:srgbClr val="6B7280"/>
                </a:solidFill>
                <a:latin typeface="맑은 고딕"/>
                <a:ea typeface="맑은 고딕"/>
              </a:rPr>
              <a:t> 시 RESULT_SHOWN → WAITING </a:t>
            </a:r>
            <a:r>
              <a:rPr sz="1100" b="0" dirty="0" err="1">
                <a:solidFill>
                  <a:srgbClr val="6B7280"/>
                </a:solidFill>
                <a:latin typeface="맑은 고딕"/>
                <a:ea typeface="맑은 고딕"/>
              </a:rPr>
              <a:t>복귀</a:t>
            </a:r>
            <a:endParaRPr sz="1100" b="0" dirty="0">
              <a:solidFill>
                <a:srgbClr val="6B7280"/>
              </a:solidFill>
              <a:latin typeface="맑은 고딕"/>
              <a:ea typeface="맑은 고딕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85800" y="3383280"/>
            <a:ext cx="2423160" cy="1600200"/>
          </a:xfrm>
          <a:prstGeom prst="rect">
            <a:avLst/>
          </a:prstGeom>
          <a:solidFill>
            <a:srgbClr val="F7F8FA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3547872"/>
            <a:ext cx="19659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F6FED"/>
                </a:solidFill>
                <a:latin typeface="맑은 고딕"/>
                <a:ea typeface="맑은 고딕"/>
              </a:rPr>
              <a:t>-37%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206240"/>
            <a:ext cx="1965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1243B"/>
                </a:solidFill>
                <a:latin typeface="맑은 고딕"/>
                <a:ea typeface="맑은 고딕"/>
              </a:rPr>
              <a:t>측정 소요시간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544568"/>
            <a:ext cx="1965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맑은 고딕"/>
                <a:ea typeface="맑은 고딕"/>
              </a:rPr>
              <a:t>4.93s → 3.08s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46120" y="3383280"/>
            <a:ext cx="2423160" cy="1600200"/>
          </a:xfrm>
          <a:prstGeom prst="rect">
            <a:avLst/>
          </a:prstGeom>
          <a:solidFill>
            <a:srgbClr val="F7F8FA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474720" y="3547872"/>
            <a:ext cx="19659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F6FED"/>
                </a:solidFill>
                <a:latin typeface="맑은 고딕"/>
                <a:ea typeface="맑은 고딕"/>
              </a:rPr>
              <a:t>3/3회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4206240"/>
            <a:ext cx="196596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dirty="0" err="1">
                <a:solidFill>
                  <a:srgbClr val="11243B"/>
                </a:solidFill>
                <a:latin typeface="맑은 고딕"/>
                <a:ea typeface="맑은 고딕"/>
              </a:rPr>
              <a:t>현장</a:t>
            </a:r>
            <a:r>
              <a:rPr sz="1300" b="1" dirty="0">
                <a:solidFill>
                  <a:srgbClr val="11243B"/>
                </a:solidFill>
                <a:latin typeface="맑은 고딕"/>
                <a:ea typeface="맑은 고딕"/>
              </a:rPr>
              <a:t> </a:t>
            </a:r>
            <a:r>
              <a:rPr sz="1300" b="1" dirty="0" err="1">
                <a:solidFill>
                  <a:srgbClr val="11243B"/>
                </a:solidFill>
                <a:latin typeface="맑은 고딕"/>
                <a:ea typeface="맑은 고딕"/>
              </a:rPr>
              <a:t>검증</a:t>
            </a:r>
            <a:endParaRPr sz="1300" b="1" dirty="0">
              <a:solidFill>
                <a:srgbClr val="11243B"/>
              </a:solidFill>
              <a:latin typeface="맑은 고딕"/>
              <a:ea typeface="맑은 고딕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474720" y="4544568"/>
            <a:ext cx="1965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맑은 고딕"/>
                <a:ea typeface="맑은 고딕"/>
              </a:rPr>
              <a:t>치웠다 놓기 반복 성공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212080"/>
            <a:ext cx="108813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dirty="0" err="1">
                <a:solidFill>
                  <a:srgbClr val="11243B"/>
                </a:solidFill>
                <a:latin typeface="맑은 고딕"/>
                <a:ea typeface="맑은 고딕"/>
              </a:rPr>
              <a:t>자기검증</a:t>
            </a:r>
            <a:r>
              <a:rPr sz="1250" b="0" dirty="0">
                <a:solidFill>
                  <a:srgbClr val="11243B"/>
                </a:solidFill>
                <a:latin typeface="맑은 고딕"/>
                <a:ea typeface="맑은 고딕"/>
              </a:rPr>
              <a:t> </a:t>
            </a:r>
            <a:r>
              <a:rPr sz="1250" b="0" dirty="0" err="1">
                <a:solidFill>
                  <a:srgbClr val="11243B"/>
                </a:solidFill>
                <a:latin typeface="맑은 고딕"/>
                <a:ea typeface="맑은 고딕"/>
              </a:rPr>
              <a:t>메커니즘</a:t>
            </a:r>
            <a:r>
              <a:rPr sz="1250" b="0" dirty="0">
                <a:solidFill>
                  <a:srgbClr val="11243B"/>
                </a:solidFill>
                <a:latin typeface="맑은 고딕"/>
                <a:ea typeface="맑은 고딕"/>
              </a:rPr>
              <a:t> </a:t>
            </a:r>
            <a:r>
              <a:rPr sz="1250" b="0" dirty="0" err="1">
                <a:solidFill>
                  <a:srgbClr val="11243B"/>
                </a:solidFill>
                <a:latin typeface="맑은 고딕"/>
                <a:ea typeface="맑은 고딕"/>
              </a:rPr>
              <a:t>실동작</a:t>
            </a:r>
            <a:r>
              <a:rPr sz="1250" b="0" dirty="0">
                <a:solidFill>
                  <a:srgbClr val="11243B"/>
                </a:solidFill>
                <a:latin typeface="맑은 고딕"/>
                <a:ea typeface="맑은 고딕"/>
              </a:rPr>
              <a:t> </a:t>
            </a:r>
            <a:r>
              <a:rPr sz="1250" b="0" dirty="0" err="1">
                <a:solidFill>
                  <a:srgbClr val="11243B"/>
                </a:solidFill>
                <a:latin typeface="맑은 고딕"/>
                <a:ea typeface="맑은 고딕"/>
              </a:rPr>
              <a:t>확인</a:t>
            </a:r>
            <a:r>
              <a:rPr sz="1250" b="0" dirty="0">
                <a:solidFill>
                  <a:srgbClr val="11243B"/>
                </a:solidFill>
                <a:latin typeface="맑은 고딕"/>
                <a:ea typeface="맑은 고딕"/>
              </a:rPr>
              <a:t>: 15프레임 </a:t>
            </a:r>
            <a:r>
              <a:rPr sz="1250" b="0" dirty="0" err="1">
                <a:solidFill>
                  <a:srgbClr val="11243B"/>
                </a:solidFill>
                <a:latin typeface="맑은 고딕"/>
                <a:ea typeface="맑은 고딕"/>
              </a:rPr>
              <a:t>버스트</a:t>
            </a:r>
            <a:r>
              <a:rPr sz="1250" b="0" dirty="0">
                <a:solidFill>
                  <a:srgbClr val="11243B"/>
                </a:solidFill>
                <a:latin typeface="맑은 고딕"/>
                <a:ea typeface="맑은 고딕"/>
              </a:rPr>
              <a:t> 2회 </a:t>
            </a:r>
            <a:r>
              <a:rPr sz="1250" b="0" dirty="0" err="1">
                <a:solidFill>
                  <a:srgbClr val="11243B"/>
                </a:solidFill>
                <a:latin typeface="맑은 고딕"/>
                <a:ea typeface="맑은 고딕"/>
              </a:rPr>
              <a:t>비교</a:t>
            </a:r>
            <a:r>
              <a:rPr sz="1250" b="0" dirty="0">
                <a:solidFill>
                  <a:srgbClr val="11243B"/>
                </a:solidFill>
                <a:latin typeface="맑은 고딕"/>
                <a:ea typeface="맑은 고딕"/>
              </a:rPr>
              <a:t> 중 </a:t>
            </a:r>
            <a:r>
              <a:rPr sz="1250" b="0" dirty="0" err="1">
                <a:solidFill>
                  <a:srgbClr val="11243B"/>
                </a:solidFill>
                <a:latin typeface="맑은 고딕"/>
                <a:ea typeface="맑은 고딕"/>
              </a:rPr>
              <a:t>실제</a:t>
            </a:r>
            <a:r>
              <a:rPr sz="1250" b="0" dirty="0">
                <a:solidFill>
                  <a:srgbClr val="11243B"/>
                </a:solidFill>
                <a:latin typeface="맑은 고딕"/>
                <a:ea typeface="맑은 고딕"/>
              </a:rPr>
              <a:t> </a:t>
            </a:r>
            <a:r>
              <a:rPr sz="1250" b="0" dirty="0" err="1">
                <a:solidFill>
                  <a:srgbClr val="11243B"/>
                </a:solidFill>
                <a:latin typeface="맑은 고딕"/>
                <a:ea typeface="맑은 고딕"/>
              </a:rPr>
              <a:t>불일치</a:t>
            </a:r>
            <a:r>
              <a:rPr sz="1250" b="0" dirty="0">
                <a:solidFill>
                  <a:srgbClr val="11243B"/>
                </a:solidFill>
                <a:latin typeface="맑은 고딕"/>
                <a:ea typeface="맑은 고딕"/>
              </a:rPr>
              <a:t>(</a:t>
            </a:r>
            <a:r>
              <a:rPr sz="1250" b="0" dirty="0" err="1">
                <a:solidFill>
                  <a:srgbClr val="11243B"/>
                </a:solidFill>
                <a:latin typeface="맑은 고딕"/>
                <a:ea typeface="맑은 고딕"/>
              </a:rPr>
              <a:t>나사</a:t>
            </a:r>
            <a:r>
              <a:rPr sz="1250" b="0" dirty="0">
                <a:solidFill>
                  <a:srgbClr val="11243B"/>
                </a:solidFill>
                <a:latin typeface="맑은 고딕"/>
                <a:ea typeface="맑은 고딕"/>
              </a:rPr>
              <a:t> 4개/3개) </a:t>
            </a:r>
            <a:r>
              <a:rPr sz="1250" b="0" dirty="0" err="1">
                <a:solidFill>
                  <a:srgbClr val="11243B"/>
                </a:solidFill>
                <a:latin typeface="맑은 고딕"/>
                <a:ea typeface="맑은 고딕"/>
              </a:rPr>
              <a:t>발생</a:t>
            </a:r>
            <a:r>
              <a:rPr sz="1250" b="0" dirty="0">
                <a:solidFill>
                  <a:srgbClr val="11243B"/>
                </a:solidFill>
                <a:latin typeface="맑은 고딕"/>
                <a:ea typeface="맑은 고딕"/>
              </a:rPr>
              <a:t> → 30프레임 </a:t>
            </a:r>
            <a:r>
              <a:rPr sz="1250" b="0" dirty="0" err="1">
                <a:solidFill>
                  <a:srgbClr val="11243B"/>
                </a:solidFill>
                <a:latin typeface="맑은 고딕"/>
                <a:ea typeface="맑은 고딕"/>
              </a:rPr>
              <a:t>재측정으로</a:t>
            </a:r>
            <a:r>
              <a:rPr sz="1250" b="0" dirty="0">
                <a:solidFill>
                  <a:srgbClr val="11243B"/>
                </a:solidFill>
                <a:latin typeface="맑은 고딕"/>
                <a:ea typeface="맑은 고딕"/>
              </a:rPr>
              <a:t> </a:t>
            </a:r>
            <a:r>
              <a:rPr sz="1250" b="0" dirty="0" err="1">
                <a:solidFill>
                  <a:srgbClr val="11243B"/>
                </a:solidFill>
                <a:latin typeface="맑은 고딕"/>
                <a:ea typeface="맑은 고딕"/>
              </a:rPr>
              <a:t>자동</a:t>
            </a:r>
            <a:r>
              <a:rPr sz="1250" b="0" dirty="0">
                <a:solidFill>
                  <a:srgbClr val="11243B"/>
                </a:solidFill>
                <a:latin typeface="맑은 고딕"/>
                <a:ea typeface="맑은 고딕"/>
              </a:rPr>
              <a:t> </a:t>
            </a:r>
            <a:r>
              <a:rPr sz="1250" b="0" dirty="0" err="1">
                <a:solidFill>
                  <a:srgbClr val="11243B"/>
                </a:solidFill>
                <a:latin typeface="맑은 고딕"/>
                <a:ea typeface="맑은 고딕"/>
              </a:rPr>
              <a:t>전환</a:t>
            </a:r>
            <a:r>
              <a:rPr sz="1250" b="0" dirty="0">
                <a:solidFill>
                  <a:srgbClr val="11243B"/>
                </a:solidFill>
                <a:latin typeface="맑은 고딕"/>
                <a:ea typeface="맑은 고딕"/>
              </a:rPr>
              <a:t> → </a:t>
            </a:r>
            <a:r>
              <a:rPr sz="1250" b="0" dirty="0" err="1">
                <a:solidFill>
                  <a:srgbClr val="11243B"/>
                </a:solidFill>
                <a:latin typeface="맑은 고딕"/>
                <a:ea typeface="맑은 고딕"/>
              </a:rPr>
              <a:t>원인</a:t>
            </a:r>
            <a:r>
              <a:rPr sz="1250" b="0" dirty="0">
                <a:solidFill>
                  <a:srgbClr val="11243B"/>
                </a:solidFill>
                <a:latin typeface="맑은 고딕"/>
                <a:ea typeface="맑은 고딕"/>
              </a:rPr>
              <a:t>(</a:t>
            </a:r>
            <a:r>
              <a:rPr sz="1250" b="0" dirty="0" err="1">
                <a:solidFill>
                  <a:srgbClr val="11243B"/>
                </a:solidFill>
                <a:latin typeface="맑은 고딕"/>
                <a:ea typeface="맑은 고딕"/>
              </a:rPr>
              <a:t>반사로</a:t>
            </a:r>
            <a:r>
              <a:rPr sz="1250" b="0" dirty="0">
                <a:solidFill>
                  <a:srgbClr val="11243B"/>
                </a:solidFill>
                <a:latin typeface="맑은 고딕"/>
                <a:ea typeface="맑은 고딕"/>
              </a:rPr>
              <a:t> </a:t>
            </a:r>
            <a:r>
              <a:rPr sz="1250" b="0" dirty="0" err="1">
                <a:solidFill>
                  <a:srgbClr val="11243B"/>
                </a:solidFill>
                <a:latin typeface="맑은 고딕"/>
                <a:ea typeface="맑은 고딕"/>
              </a:rPr>
              <a:t>인한</a:t>
            </a:r>
            <a:r>
              <a:rPr sz="1250" b="0" dirty="0">
                <a:solidFill>
                  <a:srgbClr val="11243B"/>
                </a:solidFill>
                <a:latin typeface="맑은 고딕"/>
                <a:ea typeface="맑은 고딕"/>
              </a:rPr>
              <a:t> depth </a:t>
            </a:r>
            <a:r>
              <a:rPr sz="1250" b="0" dirty="0" err="1">
                <a:solidFill>
                  <a:srgbClr val="11243B"/>
                </a:solidFill>
                <a:latin typeface="맑은 고딕"/>
                <a:ea typeface="맑은 고딕"/>
              </a:rPr>
              <a:t>유실</a:t>
            </a:r>
            <a:r>
              <a:rPr sz="1250" b="0" dirty="0">
                <a:solidFill>
                  <a:srgbClr val="11243B"/>
                </a:solidFill>
                <a:latin typeface="맑은 고딕"/>
                <a:ea typeface="맑은 고딕"/>
              </a:rPr>
              <a:t>, </a:t>
            </a:r>
            <a:r>
              <a:rPr sz="1250" b="0" dirty="0" err="1">
                <a:solidFill>
                  <a:srgbClr val="11243B"/>
                </a:solidFill>
                <a:latin typeface="맑은 고딕"/>
                <a:ea typeface="맑은 고딕"/>
              </a:rPr>
              <a:t>배경</a:t>
            </a:r>
            <a:r>
              <a:rPr sz="1250" b="0" dirty="0">
                <a:solidFill>
                  <a:srgbClr val="11243B"/>
                </a:solidFill>
                <a:latin typeface="맑은 고딕"/>
                <a:ea typeface="맑은 고딕"/>
              </a:rPr>
              <a:t> </a:t>
            </a:r>
            <a:r>
              <a:rPr sz="1250" b="0" dirty="0" err="1">
                <a:solidFill>
                  <a:srgbClr val="11243B"/>
                </a:solidFill>
                <a:latin typeface="맑은 고딕"/>
                <a:ea typeface="맑은 고딕"/>
              </a:rPr>
              <a:t>오탐</a:t>
            </a:r>
            <a:r>
              <a:rPr sz="1250" b="0" dirty="0">
                <a:solidFill>
                  <a:srgbClr val="11243B"/>
                </a:solidFill>
                <a:latin typeface="맑은 고딕"/>
                <a:ea typeface="맑은 고딕"/>
              </a:rPr>
              <a:t>)</a:t>
            </a:r>
            <a:r>
              <a:rPr sz="1250" b="0" dirty="0" err="1">
                <a:solidFill>
                  <a:srgbClr val="11243B"/>
                </a:solidFill>
                <a:latin typeface="맑은 고딕"/>
                <a:ea typeface="맑은 고딕"/>
              </a:rPr>
              <a:t>까지</a:t>
            </a:r>
            <a:r>
              <a:rPr sz="1250" b="0" dirty="0">
                <a:solidFill>
                  <a:srgbClr val="11243B"/>
                </a:solidFill>
                <a:latin typeface="맑은 고딕"/>
                <a:ea typeface="맑은 고딕"/>
              </a:rPr>
              <a:t> </a:t>
            </a:r>
            <a:r>
              <a:rPr sz="1250" b="0" dirty="0" err="1">
                <a:solidFill>
                  <a:srgbClr val="11243B"/>
                </a:solidFill>
                <a:latin typeface="맑은 고딕"/>
                <a:ea typeface="맑은 고딕"/>
              </a:rPr>
              <a:t>로그로</a:t>
            </a:r>
            <a:r>
              <a:rPr sz="1250" b="0" dirty="0">
                <a:solidFill>
                  <a:srgbClr val="11243B"/>
                </a:solidFill>
                <a:latin typeface="맑은 고딕"/>
                <a:ea typeface="맑은 고딕"/>
              </a:rPr>
              <a:t> </a:t>
            </a:r>
            <a:r>
              <a:rPr sz="1250" b="0" dirty="0" err="1">
                <a:solidFill>
                  <a:srgbClr val="11243B"/>
                </a:solidFill>
                <a:latin typeface="맑은 고딕"/>
                <a:ea typeface="맑은 고딕"/>
              </a:rPr>
              <a:t>정확히</a:t>
            </a:r>
            <a:r>
              <a:rPr sz="1250" b="0" dirty="0">
                <a:solidFill>
                  <a:srgbClr val="11243B"/>
                </a:solidFill>
                <a:latin typeface="맑은 고딕"/>
                <a:ea typeface="맑은 고딕"/>
              </a:rPr>
              <a:t> </a:t>
            </a:r>
            <a:r>
              <a:rPr sz="1250" b="0" dirty="0" err="1">
                <a:solidFill>
                  <a:srgbClr val="11243B"/>
                </a:solidFill>
                <a:latin typeface="맑은 고딕"/>
                <a:ea typeface="맑은 고딕"/>
              </a:rPr>
              <a:t>규명</a:t>
            </a:r>
            <a:endParaRPr sz="1250" b="0" dirty="0">
              <a:solidFill>
                <a:srgbClr val="11243B"/>
              </a:solidFill>
              <a:latin typeface="맑은 고딕"/>
              <a:ea typeface="맑은 고딕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2296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  <a:ea typeface="맑은 고딕"/>
              </a:rPr>
              <a:t>6번과 동일한 판정 로직(정상/덜박힘/틀어짐)을 그대로 재사용 · 카메라 고정 + 시편 이동 전제, 정지 감지 시 자동 실행</a:t>
            </a:r>
          </a:p>
        </p:txBody>
      </p:sp>
      <p:pic>
        <p:nvPicPr>
          <p:cNvPr id="26" name="Picture 25" descr="7_realtime_result.png">
            <a:extLst>
              <a:ext uri="{FF2B5EF4-FFF2-40B4-BE49-F238E27FC236}">
                <a16:creationId xmlns:a16="http://schemas.microsoft.com/office/drawing/2014/main" id="{F53FDE50-A2EF-5CC7-E09B-D50714DE5D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828800"/>
            <a:ext cx="585216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02920"/>
            <a:ext cx="54864" cy="3840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F6FED"/>
                </a:solidFill>
                <a:latin typeface="맑은 고딕"/>
              </a:rPr>
              <a:t>7. 실시간 검출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4980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 err="1">
                <a:solidFill>
                  <a:srgbClr val="11243B"/>
                </a:solidFill>
                <a:latin typeface="맑은 고딕"/>
              </a:rPr>
              <a:t>라이브</a:t>
            </a:r>
            <a:r>
              <a:rPr sz="2800" b="1" dirty="0">
                <a:solidFill>
                  <a:srgbClr val="11243B"/>
                </a:solidFill>
                <a:latin typeface="맑은 고딕"/>
              </a:rPr>
              <a:t> </a:t>
            </a:r>
            <a:r>
              <a:rPr sz="2800" b="1" dirty="0" err="1">
                <a:solidFill>
                  <a:srgbClr val="11243B"/>
                </a:solidFill>
                <a:latin typeface="맑은 고딕"/>
              </a:rPr>
              <a:t>추적</a:t>
            </a:r>
            <a:r>
              <a:rPr sz="2800" b="1" dirty="0">
                <a:solidFill>
                  <a:srgbClr val="11243B"/>
                </a:solidFill>
                <a:latin typeface="맑은 고딕"/>
              </a:rPr>
              <a:t> + </a:t>
            </a:r>
            <a:r>
              <a:rPr sz="2800" b="1" dirty="0" err="1">
                <a:solidFill>
                  <a:srgbClr val="11243B"/>
                </a:solidFill>
                <a:latin typeface="맑은 고딕"/>
              </a:rPr>
              <a:t>정지</a:t>
            </a:r>
            <a:r>
              <a:rPr sz="2800" b="1" dirty="0">
                <a:solidFill>
                  <a:srgbClr val="11243B"/>
                </a:solidFill>
                <a:latin typeface="맑은 고딕"/>
              </a:rPr>
              <a:t> 후 </a:t>
            </a:r>
            <a:r>
              <a:rPr sz="2800" b="1" dirty="0" err="1">
                <a:solidFill>
                  <a:srgbClr val="11243B"/>
                </a:solidFill>
                <a:latin typeface="맑은 고딕"/>
              </a:rPr>
              <a:t>정밀</a:t>
            </a:r>
            <a:r>
              <a:rPr sz="2800" b="1" dirty="0">
                <a:solidFill>
                  <a:srgbClr val="11243B"/>
                </a:solidFill>
                <a:latin typeface="맑은 고딕"/>
              </a:rPr>
              <a:t> </a:t>
            </a:r>
            <a:r>
              <a:rPr sz="2800" b="1" dirty="0" err="1">
                <a:solidFill>
                  <a:srgbClr val="11243B"/>
                </a:solidFill>
                <a:latin typeface="맑은 고딕"/>
              </a:rPr>
              <a:t>측정</a:t>
            </a:r>
            <a:r>
              <a:rPr sz="2800" b="1" dirty="0">
                <a:solidFill>
                  <a:srgbClr val="11243B"/>
                </a:solidFill>
                <a:latin typeface="맑은 고딕"/>
              </a:rPr>
              <a:t> </a:t>
            </a:r>
            <a:r>
              <a:rPr sz="2800" b="1" dirty="0" err="1">
                <a:solidFill>
                  <a:srgbClr val="11243B"/>
                </a:solidFill>
                <a:latin typeface="맑은 고딕"/>
              </a:rPr>
              <a:t>하이브리드</a:t>
            </a:r>
            <a:r>
              <a:rPr sz="2800" b="1" dirty="0">
                <a:solidFill>
                  <a:srgbClr val="11243B"/>
                </a:solidFill>
                <a:latin typeface="맑은 고딕"/>
              </a:rPr>
              <a:t> </a:t>
            </a:r>
            <a:r>
              <a:rPr sz="2800" b="1" dirty="0" err="1">
                <a:solidFill>
                  <a:srgbClr val="11243B"/>
                </a:solidFill>
                <a:latin typeface="맑은 고딕"/>
              </a:rPr>
              <a:t>구조</a:t>
            </a:r>
            <a:endParaRPr sz="2800" b="1" dirty="0">
              <a:solidFill>
                <a:srgbClr val="11243B"/>
              </a:solidFill>
              <a:latin typeface="맑은 고딕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691640"/>
          <a:ext cx="5806440" cy="1783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5770">
                <a:tc>
                  <a:txBody>
                    <a:bodyPr/>
                    <a:lstStyle/>
                    <a:p>
                      <a:endParaRPr/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움직이는 중 (라이브)</a:t>
                      </a:r>
                    </a:p>
                  </a:txBody>
                  <a:tcPr marT="25400" marB="25400" anchor="ctr">
                    <a:solidFill>
                      <a:srgbClr val="2F6F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정지 후 (정밀 측정)</a:t>
                      </a:r>
                    </a:p>
                  </a:txBody>
                  <a:tcPr marT="25400" marB="25400" anchor="ctr">
                    <a:solidFill>
                      <a:srgbClr val="2F6F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1243B"/>
                          </a:solidFill>
                          <a:latin typeface="맑은 고딕"/>
                        </a:rPr>
                        <a:t>프레임 처리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6B7280"/>
                          </a:solidFill>
                          <a:latin typeface="맑은 고딕"/>
                        </a:rPr>
                        <a:t>단일 프레임마다 즉시 검출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6B7280"/>
                          </a:solidFill>
                          <a:latin typeface="맑은 고딕"/>
                        </a:rPr>
                        <a:t>15~30프레임 평균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1243B"/>
                          </a:solidFill>
                          <a:latin typeface="맑은 고딕"/>
                        </a:rPr>
                        <a:t>mm 값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6B7280"/>
                          </a:solidFill>
                          <a:latin typeface="맑은 고딕"/>
                        </a:rPr>
                        <a:t>참고용 (정밀 측정 아님 명시)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6B7280"/>
                          </a:solidFill>
                          <a:latin typeface="맑은 고딕"/>
                        </a:rPr>
                        <a:t>신뢰 가능한 정식 측정치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1243B"/>
                          </a:solidFill>
                          <a:latin typeface="맑은 고딕"/>
                        </a:rPr>
                        <a:t>판정 결과 저장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6B7280"/>
                          </a:solidFill>
                          <a:latin typeface="맑은 고딕"/>
                        </a:rPr>
                        <a:t>안 함 (baseline 오염 방지)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6B7280"/>
                          </a:solidFill>
                          <a:latin typeface="맑은 고딕"/>
                        </a:rPr>
                        <a:t>저장됨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3703320"/>
            <a:ext cx="5806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1243B"/>
                </a:solidFill>
                <a:latin typeface="맑은 고딕"/>
              </a:rPr>
              <a:t>왜 정밀 측정은 여전히 정지가 필요한가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069080"/>
            <a:ext cx="5806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</a:rPr>
              <a:t>· depth는 여러 프레임을 평균 내야 노이즈가 줄어드는데, 움직이는 동안 평균 내면 오히려 값이 뭉개짐
· RealSense 파이프라인이 스레드 하나에서만 안전 — '미리보기 갱신'과 '정밀 측정'을 동시에 못 돌림</a:t>
            </a:r>
          </a:p>
        </p:txBody>
      </p:sp>
      <p:sp>
        <p:nvSpPr>
          <p:cNvPr id="8" name="Rectangle 7"/>
          <p:cNvSpPr/>
          <p:nvPr/>
        </p:nvSpPr>
        <p:spPr>
          <a:xfrm>
            <a:off x="7102248" y="1296421"/>
            <a:ext cx="3856736" cy="2185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frame_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0536" y="1314709"/>
            <a:ext cx="3820160" cy="21488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120536" y="3536701"/>
            <a:ext cx="382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6A34A"/>
                </a:solidFill>
                <a:latin typeface="맑은 고딕"/>
              </a:rPr>
              <a:t>t=0.5s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65672" y="3843543"/>
            <a:ext cx="3856736" cy="2185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frame_0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2248" y="3865885"/>
            <a:ext cx="3820160" cy="21488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102248" y="6087877"/>
            <a:ext cx="382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6A34A"/>
                </a:solidFill>
                <a:latin typeface="맑은 고딕"/>
              </a:rPr>
              <a:t>t=8.0s (실제 이동 중)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8708" y="6406223"/>
            <a:ext cx="48463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dirty="0" err="1">
                <a:solidFill>
                  <a:srgbClr val="6B7280"/>
                </a:solidFill>
                <a:latin typeface="맑은 고딕"/>
              </a:rPr>
              <a:t>나사</a:t>
            </a:r>
            <a:r>
              <a:rPr sz="1000" b="0" dirty="0">
                <a:solidFill>
                  <a:srgbClr val="6B7280"/>
                </a:solidFill>
                <a:latin typeface="맑은 고딕"/>
              </a:rPr>
              <a:t>/</a:t>
            </a:r>
            <a:r>
              <a:rPr sz="1000" b="0" dirty="0" err="1">
                <a:solidFill>
                  <a:srgbClr val="6B7280"/>
                </a:solidFill>
                <a:latin typeface="맑은 고딕"/>
              </a:rPr>
              <a:t>구멍</a:t>
            </a:r>
            <a:r>
              <a:rPr sz="1000" b="0" dirty="0">
                <a:solidFill>
                  <a:srgbClr val="6B728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6B7280"/>
                </a:solidFill>
                <a:latin typeface="맑은 고딕"/>
              </a:rPr>
              <a:t>위치가</a:t>
            </a:r>
            <a:r>
              <a:rPr sz="1000" b="0" dirty="0">
                <a:solidFill>
                  <a:srgbClr val="6B728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6B7280"/>
                </a:solidFill>
                <a:latin typeface="맑은 고딕"/>
              </a:rPr>
              <a:t>이동을</a:t>
            </a:r>
            <a:r>
              <a:rPr sz="1000" b="0" dirty="0">
                <a:solidFill>
                  <a:srgbClr val="6B728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6B7280"/>
                </a:solidFill>
                <a:latin typeface="맑은 고딕"/>
              </a:rPr>
              <a:t>따라</a:t>
            </a:r>
            <a:r>
              <a:rPr sz="1000" b="0" dirty="0">
                <a:solidFill>
                  <a:srgbClr val="6B728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6B7280"/>
                </a:solidFill>
                <a:latin typeface="맑은 고딕"/>
              </a:rPr>
              <a:t>갱신됨</a:t>
            </a:r>
            <a:endParaRPr sz="1000" b="0" dirty="0">
              <a:solidFill>
                <a:srgbClr val="6B7280"/>
              </a:solidFill>
              <a:latin typeface="맑은 고딕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23340" y="636931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dirty="0">
                <a:solidFill>
                  <a:srgbClr val="6B7280"/>
                </a:solidFill>
                <a:latin typeface="맑은 고딕"/>
              </a:rPr>
              <a:t>--live-demo-sec </a:t>
            </a:r>
            <a:r>
              <a:rPr sz="1000" b="0" dirty="0" err="1">
                <a:solidFill>
                  <a:srgbClr val="6B7280"/>
                </a:solidFill>
                <a:latin typeface="맑은 고딕"/>
              </a:rPr>
              <a:t>옵션으로</a:t>
            </a:r>
            <a:r>
              <a:rPr sz="1000" b="0" dirty="0">
                <a:solidFill>
                  <a:srgbClr val="6B728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6B7280"/>
                </a:solidFill>
                <a:latin typeface="맑은 고딕"/>
              </a:rPr>
              <a:t>라이브</a:t>
            </a:r>
            <a:r>
              <a:rPr sz="1000" b="0" dirty="0">
                <a:solidFill>
                  <a:srgbClr val="6B728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6B7280"/>
                </a:solidFill>
                <a:latin typeface="맑은 고딕"/>
              </a:rPr>
              <a:t>추적이</a:t>
            </a:r>
            <a:r>
              <a:rPr sz="1000" b="0" dirty="0">
                <a:solidFill>
                  <a:srgbClr val="6B728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6B7280"/>
                </a:solidFill>
                <a:latin typeface="맑은 고딕"/>
              </a:rPr>
              <a:t>실제로</a:t>
            </a:r>
            <a:r>
              <a:rPr sz="1000" b="0" dirty="0">
                <a:solidFill>
                  <a:srgbClr val="6B728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6B7280"/>
                </a:solidFill>
                <a:latin typeface="맑은 고딕"/>
              </a:rPr>
              <a:t>동작하는지</a:t>
            </a:r>
            <a:r>
              <a:rPr sz="1000" b="0" dirty="0">
                <a:solidFill>
                  <a:srgbClr val="6B728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6B7280"/>
                </a:solidFill>
                <a:latin typeface="맑은 고딕"/>
              </a:rPr>
              <a:t>스크린샷으로</a:t>
            </a:r>
            <a:r>
              <a:rPr sz="1000" b="0" dirty="0">
                <a:solidFill>
                  <a:srgbClr val="6B728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6B7280"/>
                </a:solidFill>
                <a:latin typeface="맑은 고딕"/>
              </a:rPr>
              <a:t>저장해</a:t>
            </a:r>
            <a:r>
              <a:rPr sz="1000" b="0" dirty="0">
                <a:solidFill>
                  <a:srgbClr val="6B728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6B7280"/>
                </a:solidFill>
                <a:latin typeface="맑은 고딕"/>
              </a:rPr>
              <a:t>검증하는</a:t>
            </a:r>
            <a:r>
              <a:rPr sz="1000" b="0" dirty="0">
                <a:solidFill>
                  <a:srgbClr val="6B728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6B7280"/>
                </a:solidFill>
                <a:latin typeface="맑은 고딕"/>
              </a:rPr>
              <a:t>모드도</a:t>
            </a:r>
            <a:r>
              <a:rPr sz="1000" b="0" dirty="0">
                <a:solidFill>
                  <a:srgbClr val="6B728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6B7280"/>
                </a:solidFill>
                <a:latin typeface="맑은 고딕"/>
              </a:rPr>
              <a:t>별도</a:t>
            </a:r>
            <a:r>
              <a:rPr sz="1000" b="0" dirty="0">
                <a:solidFill>
                  <a:srgbClr val="6B728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6B7280"/>
                </a:solidFill>
                <a:latin typeface="맑은 고딕"/>
              </a:rPr>
              <a:t>제공</a:t>
            </a:r>
            <a:endParaRPr sz="1000" b="0" dirty="0">
              <a:solidFill>
                <a:srgbClr val="6B7280"/>
              </a:solidFill>
              <a:latin typeface="맑은 고딕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2467B1-D8EC-9CE3-80DD-8FE596E2F8B2}"/>
              </a:ext>
            </a:extLst>
          </p:cNvPr>
          <p:cNvSpPr txBox="1"/>
          <p:nvPr/>
        </p:nvSpPr>
        <p:spPr>
          <a:xfrm>
            <a:off x="996696" y="5266944"/>
            <a:ext cx="5804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*</a:t>
            </a:r>
            <a:r>
              <a:rPr lang="ko-KR" altLang="en-US" dirty="0"/>
              <a:t>단 카메라 법선 기준 </a:t>
            </a:r>
            <a:r>
              <a:rPr lang="en-US" altLang="ko-KR" dirty="0"/>
              <a:t>20</a:t>
            </a:r>
            <a:r>
              <a:rPr lang="ko-KR" altLang="en-US" dirty="0"/>
              <a:t>도가 넘어가면 못 탐지 힘들어짐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E511DB-AE1C-D672-3E49-486D10A93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F12B874-0570-AA73-C9D8-E3EE122D6E1A}"/>
              </a:ext>
            </a:extLst>
          </p:cNvPr>
          <p:cNvSpPr/>
          <p:nvPr/>
        </p:nvSpPr>
        <p:spPr>
          <a:xfrm>
            <a:off x="640080" y="502920"/>
            <a:ext cx="54864" cy="3840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8236EF-696B-560D-1CD1-D90F0FE5B6FF}"/>
              </a:ext>
            </a:extLst>
          </p:cNvPr>
          <p:cNvSpPr txBox="1"/>
          <p:nvPr/>
        </p:nvSpPr>
        <p:spPr>
          <a:xfrm>
            <a:off x="822960" y="4572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F6FED"/>
                </a:solidFill>
                <a:latin typeface="맑은 고딕"/>
              </a:rPr>
              <a:t>7. 실시간 검출 (계속)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22943F-74B8-500F-0D38-BEEB62BBF1E3}"/>
              </a:ext>
            </a:extLst>
          </p:cNvPr>
          <p:cNvSpPr txBox="1"/>
          <p:nvPr/>
        </p:nvSpPr>
        <p:spPr>
          <a:xfrm>
            <a:off x="822960" y="818159"/>
            <a:ext cx="10515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b="1" dirty="0">
                <a:solidFill>
                  <a:srgbClr val="11243B"/>
                </a:solidFill>
                <a:latin typeface="맑은 고딕"/>
              </a:rPr>
              <a:t>실시간 검출 다른 시편</a:t>
            </a:r>
            <a:endParaRPr sz="2800" b="1" dirty="0">
              <a:solidFill>
                <a:srgbClr val="11243B"/>
              </a:solidFill>
              <a:latin typeface="맑은 고딕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C90566-0B00-0C7D-A17F-1195FDE90B60}"/>
              </a:ext>
            </a:extLst>
          </p:cNvPr>
          <p:cNvSpPr txBox="1"/>
          <p:nvPr/>
        </p:nvSpPr>
        <p:spPr>
          <a:xfrm>
            <a:off x="1005840" y="5404104"/>
            <a:ext cx="58064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1300" b="1" dirty="0">
                <a:solidFill>
                  <a:srgbClr val="11243B"/>
                </a:solidFill>
                <a:latin typeface="맑은 고딕"/>
              </a:rPr>
              <a:t>각 홀의 크기의 미세한 차이 및 문양 차이로 인한 오탐 발생</a:t>
            </a:r>
            <a:endParaRPr sz="1300" b="1" dirty="0">
              <a:solidFill>
                <a:srgbClr val="11243B"/>
              </a:solidFill>
              <a:latin typeface="맑은 고딕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F705547-ED4E-58E2-ADC7-670F28F1DA60}"/>
              </a:ext>
            </a:extLst>
          </p:cNvPr>
          <p:cNvSpPr/>
          <p:nvPr/>
        </p:nvSpPr>
        <p:spPr>
          <a:xfrm>
            <a:off x="7102248" y="1296421"/>
            <a:ext cx="3856736" cy="2185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2A40E8-465D-7BD7-5053-DDFBD22C8030}"/>
              </a:ext>
            </a:extLst>
          </p:cNvPr>
          <p:cNvSpPr txBox="1"/>
          <p:nvPr/>
        </p:nvSpPr>
        <p:spPr>
          <a:xfrm>
            <a:off x="7120536" y="3536701"/>
            <a:ext cx="382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6A34A"/>
                </a:solidFill>
                <a:latin typeface="맑은 고딕"/>
              </a:rPr>
              <a:t>t=0.5s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57A1988-281A-EFB6-5340-249142219158}"/>
              </a:ext>
            </a:extLst>
          </p:cNvPr>
          <p:cNvSpPr/>
          <p:nvPr/>
        </p:nvSpPr>
        <p:spPr>
          <a:xfrm>
            <a:off x="7065672" y="3843543"/>
            <a:ext cx="3856736" cy="2185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756510-BD4B-EECC-13EF-90B2C6FEF6E2}"/>
              </a:ext>
            </a:extLst>
          </p:cNvPr>
          <p:cNvSpPr txBox="1"/>
          <p:nvPr/>
        </p:nvSpPr>
        <p:spPr>
          <a:xfrm>
            <a:off x="7102248" y="6087877"/>
            <a:ext cx="382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6A34A"/>
                </a:solidFill>
                <a:latin typeface="맑은 고딕"/>
              </a:rPr>
              <a:t>t=8.0s (실제 이동 중)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4B1EA1-4360-51E8-7E83-CF9930700F10}"/>
              </a:ext>
            </a:extLst>
          </p:cNvPr>
          <p:cNvSpPr txBox="1"/>
          <p:nvPr/>
        </p:nvSpPr>
        <p:spPr>
          <a:xfrm>
            <a:off x="8038708" y="6406223"/>
            <a:ext cx="48463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dirty="0" err="1">
                <a:solidFill>
                  <a:srgbClr val="6B7280"/>
                </a:solidFill>
                <a:latin typeface="맑은 고딕"/>
              </a:rPr>
              <a:t>나사</a:t>
            </a:r>
            <a:r>
              <a:rPr sz="1000" b="0" dirty="0">
                <a:solidFill>
                  <a:srgbClr val="6B7280"/>
                </a:solidFill>
                <a:latin typeface="맑은 고딕"/>
              </a:rPr>
              <a:t>/</a:t>
            </a:r>
            <a:r>
              <a:rPr sz="1000" b="0" dirty="0" err="1">
                <a:solidFill>
                  <a:srgbClr val="6B7280"/>
                </a:solidFill>
                <a:latin typeface="맑은 고딕"/>
              </a:rPr>
              <a:t>구멍</a:t>
            </a:r>
            <a:r>
              <a:rPr sz="1000" b="0" dirty="0">
                <a:solidFill>
                  <a:srgbClr val="6B728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6B7280"/>
                </a:solidFill>
                <a:latin typeface="맑은 고딕"/>
              </a:rPr>
              <a:t>위치가</a:t>
            </a:r>
            <a:r>
              <a:rPr sz="1000" b="0" dirty="0">
                <a:solidFill>
                  <a:srgbClr val="6B728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6B7280"/>
                </a:solidFill>
                <a:latin typeface="맑은 고딕"/>
              </a:rPr>
              <a:t>이동을</a:t>
            </a:r>
            <a:r>
              <a:rPr sz="1000" b="0" dirty="0">
                <a:solidFill>
                  <a:srgbClr val="6B728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6B7280"/>
                </a:solidFill>
                <a:latin typeface="맑은 고딕"/>
              </a:rPr>
              <a:t>따라</a:t>
            </a:r>
            <a:r>
              <a:rPr sz="1000" b="0" dirty="0">
                <a:solidFill>
                  <a:srgbClr val="6B728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6B7280"/>
                </a:solidFill>
                <a:latin typeface="맑은 고딕"/>
              </a:rPr>
              <a:t>갱신됨</a:t>
            </a:r>
            <a:endParaRPr sz="1000" b="0" dirty="0">
              <a:solidFill>
                <a:srgbClr val="6B7280"/>
              </a:solidFill>
              <a:latin typeface="맑은 고딕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5A8ECD2-CC16-736B-C760-D75F15E511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0536" y="1341379"/>
            <a:ext cx="3801872" cy="2078661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0E9B3CD-1DB8-E2E2-8484-A224B72C99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2248" y="3865886"/>
            <a:ext cx="3765540" cy="2118116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489E4BD0-9B8E-FB0A-FCDC-F5A3C5CD6F31}"/>
              </a:ext>
            </a:extLst>
          </p:cNvPr>
          <p:cNvSpPr txBox="1"/>
          <p:nvPr/>
        </p:nvSpPr>
        <p:spPr>
          <a:xfrm>
            <a:off x="1225296" y="4727448"/>
            <a:ext cx="36808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가장자리는 미탐 및 오탐 확률 높음</a:t>
            </a:r>
          </a:p>
        </p:txBody>
      </p:sp>
    </p:spTree>
    <p:extLst>
      <p:ext uri="{BB962C8B-B14F-4D97-AF65-F5344CB8AC3E}">
        <p14:creationId xmlns:p14="http://schemas.microsoft.com/office/powerpoint/2010/main" val="313273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02920"/>
            <a:ext cx="54864" cy="384048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F6FED"/>
                </a:solidFill>
                <a:latin typeface="맑은 고딕"/>
                <a:ea typeface="맑은 고딕"/>
              </a:rPr>
              <a:t>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49808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1243B"/>
                </a:solidFill>
                <a:latin typeface="맑은 고딕"/>
                <a:ea typeface="맑은 고딕"/>
              </a:rPr>
              <a:t>한계 및 다음 단계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737360"/>
            <a:ext cx="128016" cy="128016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16916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dirty="0" err="1">
                <a:solidFill>
                  <a:srgbClr val="11243B"/>
                </a:solidFill>
                <a:latin typeface="맑은 고딕"/>
                <a:ea typeface="맑은 고딕"/>
              </a:rPr>
              <a:t>틀어짐</a:t>
            </a:r>
            <a:r>
              <a:rPr sz="1500" b="1" dirty="0">
                <a:solidFill>
                  <a:srgbClr val="11243B"/>
                </a:solidFill>
                <a:latin typeface="맑은 고딕"/>
                <a:ea typeface="맑은 고딕"/>
              </a:rPr>
              <a:t>(</a:t>
            </a:r>
            <a:r>
              <a:rPr sz="1500" b="1" dirty="0" err="1">
                <a:solidFill>
                  <a:srgbClr val="11243B"/>
                </a:solidFill>
                <a:latin typeface="맑은 고딕"/>
                <a:ea typeface="맑은 고딕"/>
              </a:rPr>
              <a:t>평면</a:t>
            </a:r>
            <a:r>
              <a:rPr sz="1500" b="1" dirty="0">
                <a:solidFill>
                  <a:srgbClr val="11243B"/>
                </a:solidFill>
                <a:latin typeface="맑은 고딕"/>
                <a:ea typeface="맑은 고딕"/>
              </a:rPr>
              <a:t>) </a:t>
            </a:r>
            <a:r>
              <a:rPr sz="1500" b="1" dirty="0" err="1">
                <a:solidFill>
                  <a:srgbClr val="11243B"/>
                </a:solidFill>
                <a:latin typeface="맑은 고딕"/>
                <a:ea typeface="맑은 고딕"/>
              </a:rPr>
              <a:t>판정</a:t>
            </a:r>
            <a:r>
              <a:rPr sz="1500" b="1" dirty="0">
                <a:solidFill>
                  <a:srgbClr val="11243B"/>
                </a:solidFill>
                <a:latin typeface="맑은 고딕"/>
                <a:ea typeface="맑은 고딕"/>
              </a:rPr>
              <a:t> </a:t>
            </a:r>
            <a:r>
              <a:rPr sz="1500" b="1" dirty="0" err="1">
                <a:solidFill>
                  <a:srgbClr val="11243B"/>
                </a:solidFill>
                <a:latin typeface="맑은 고딕"/>
                <a:ea typeface="맑은 고딕"/>
              </a:rPr>
              <a:t>미해결</a:t>
            </a:r>
            <a:endParaRPr sz="1500" b="1" dirty="0">
              <a:solidFill>
                <a:srgbClr val="11243B"/>
              </a:solidFill>
              <a:latin typeface="맑은 고딕"/>
              <a:ea typeface="맑은 고딕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43000" y="2057400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dirty="0" err="1">
                <a:solidFill>
                  <a:srgbClr val="6B7280"/>
                </a:solidFill>
                <a:latin typeface="맑은 고딕"/>
                <a:ea typeface="맑은 고딕"/>
              </a:rPr>
              <a:t>삽입된</a:t>
            </a:r>
            <a:r>
              <a:rPr sz="1200" b="0" dirty="0">
                <a:solidFill>
                  <a:srgbClr val="6B7280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6B7280"/>
                </a:solidFill>
                <a:latin typeface="맑은 고딕"/>
                <a:ea typeface="맑은 고딕"/>
              </a:rPr>
              <a:t>나사가</a:t>
            </a:r>
            <a:r>
              <a:rPr sz="1200" b="0" dirty="0">
                <a:solidFill>
                  <a:srgbClr val="6B7280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6B7280"/>
                </a:solidFill>
                <a:latin typeface="맑은 고딕"/>
                <a:ea typeface="맑은 고딕"/>
              </a:rPr>
              <a:t>자기</a:t>
            </a:r>
            <a:r>
              <a:rPr sz="1200" b="0" dirty="0">
                <a:solidFill>
                  <a:srgbClr val="6B7280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6B7280"/>
                </a:solidFill>
                <a:latin typeface="맑은 고딕"/>
                <a:ea typeface="맑은 고딕"/>
              </a:rPr>
              <a:t>구멍을</a:t>
            </a:r>
            <a:r>
              <a:rPr sz="1200" b="0" dirty="0">
                <a:solidFill>
                  <a:srgbClr val="6B7280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6B7280"/>
                </a:solidFill>
                <a:latin typeface="맑은 고딕"/>
                <a:ea typeface="맑은 고딕"/>
              </a:rPr>
              <a:t>가려</a:t>
            </a:r>
            <a:r>
              <a:rPr sz="1200" b="0" dirty="0">
                <a:solidFill>
                  <a:srgbClr val="6B7280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6B7280"/>
                </a:solidFill>
                <a:latin typeface="맑은 고딕"/>
                <a:ea typeface="맑은 고딕"/>
              </a:rPr>
              <a:t>중심좌표</a:t>
            </a:r>
            <a:r>
              <a:rPr sz="1200" b="0" dirty="0">
                <a:solidFill>
                  <a:srgbClr val="6B7280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6B7280"/>
                </a:solidFill>
                <a:latin typeface="맑은 고딕"/>
                <a:ea typeface="맑은 고딕"/>
              </a:rPr>
              <a:t>매칭이</a:t>
            </a:r>
            <a:r>
              <a:rPr sz="1200" b="0" dirty="0">
                <a:solidFill>
                  <a:srgbClr val="6B7280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6B7280"/>
                </a:solidFill>
                <a:latin typeface="맑은 고딕"/>
                <a:ea typeface="맑은 고딕"/>
              </a:rPr>
              <a:t>근본적으로</a:t>
            </a:r>
            <a:r>
              <a:rPr sz="1200" b="0" dirty="0">
                <a:solidFill>
                  <a:srgbClr val="6B7280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6B7280"/>
                </a:solidFill>
                <a:latin typeface="맑은 고딕"/>
                <a:ea typeface="맑은 고딕"/>
              </a:rPr>
              <a:t>불가능</a:t>
            </a:r>
            <a:r>
              <a:rPr sz="1200" b="0" dirty="0">
                <a:solidFill>
                  <a:srgbClr val="6B7280"/>
                </a:solidFill>
                <a:latin typeface="맑은 고딕"/>
                <a:ea typeface="맑은 고딕"/>
              </a:rPr>
              <a:t> — </a:t>
            </a:r>
            <a:r>
              <a:rPr sz="1200" b="0" dirty="0" err="1">
                <a:solidFill>
                  <a:srgbClr val="6B7280"/>
                </a:solidFill>
                <a:latin typeface="맑은 고딕"/>
                <a:ea typeface="맑은 고딕"/>
              </a:rPr>
              <a:t>재설계</a:t>
            </a:r>
            <a:r>
              <a:rPr sz="1200" b="0" dirty="0">
                <a:solidFill>
                  <a:srgbClr val="6B7280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6B7280"/>
                </a:solidFill>
                <a:latin typeface="맑은 고딕"/>
                <a:ea typeface="맑은 고딕"/>
              </a:rPr>
              <a:t>필요</a:t>
            </a:r>
            <a:endParaRPr sz="1200" b="0" dirty="0">
              <a:solidFill>
                <a:srgbClr val="6B7280"/>
              </a:solidFill>
              <a:latin typeface="맑은 고딕"/>
              <a:ea typeface="맑은 고딕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22960" y="3127248"/>
            <a:ext cx="128016" cy="128016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30815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dirty="0" err="1">
                <a:solidFill>
                  <a:srgbClr val="11243B"/>
                </a:solidFill>
                <a:latin typeface="맑은 고딕"/>
                <a:ea typeface="맑은 고딕"/>
              </a:rPr>
              <a:t>다른</a:t>
            </a:r>
            <a:r>
              <a:rPr sz="1500" b="1" dirty="0">
                <a:solidFill>
                  <a:srgbClr val="11243B"/>
                </a:solidFill>
                <a:latin typeface="맑은 고딕"/>
                <a:ea typeface="맑은 고딕"/>
              </a:rPr>
              <a:t> </a:t>
            </a:r>
            <a:r>
              <a:rPr sz="1500" b="1" dirty="0" err="1">
                <a:solidFill>
                  <a:srgbClr val="11243B"/>
                </a:solidFill>
                <a:latin typeface="맑은 고딕"/>
                <a:ea typeface="맑은 고딕"/>
              </a:rPr>
              <a:t>시편</a:t>
            </a:r>
            <a:r>
              <a:rPr sz="1500" b="1" dirty="0">
                <a:solidFill>
                  <a:srgbClr val="11243B"/>
                </a:solidFill>
                <a:latin typeface="맑은 고딕"/>
                <a:ea typeface="맑은 고딕"/>
              </a:rPr>
              <a:t> </a:t>
            </a:r>
            <a:r>
              <a:rPr sz="1500" b="1" dirty="0" err="1">
                <a:solidFill>
                  <a:srgbClr val="11243B"/>
                </a:solidFill>
                <a:latin typeface="맑은 고딕"/>
                <a:ea typeface="맑은 고딕"/>
              </a:rPr>
              <a:t>캘리퍼</a:t>
            </a:r>
            <a:r>
              <a:rPr sz="1500" b="1" dirty="0">
                <a:solidFill>
                  <a:srgbClr val="11243B"/>
                </a:solidFill>
                <a:latin typeface="맑은 고딕"/>
                <a:ea typeface="맑은 고딕"/>
              </a:rPr>
              <a:t> 값 </a:t>
            </a:r>
            <a:r>
              <a:rPr sz="1500" b="1" dirty="0" err="1">
                <a:solidFill>
                  <a:srgbClr val="11243B"/>
                </a:solidFill>
                <a:latin typeface="맑은 고딕"/>
                <a:ea typeface="맑은 고딕"/>
              </a:rPr>
              <a:t>미확보</a:t>
            </a:r>
            <a:endParaRPr sz="1500" b="1" dirty="0">
              <a:solidFill>
                <a:srgbClr val="11243B"/>
              </a:solidFill>
              <a:latin typeface="맑은 고딕"/>
              <a:ea typeface="맑은 고딕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43000" y="3447288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dirty="0">
                <a:solidFill>
                  <a:srgbClr val="6B7280"/>
                </a:solidFill>
                <a:latin typeface="맑은 고딕"/>
                <a:ea typeface="맑은 고딕"/>
              </a:rPr>
              <a:t>새 </a:t>
            </a:r>
            <a:r>
              <a:rPr sz="1200" b="0" dirty="0" err="1">
                <a:solidFill>
                  <a:srgbClr val="6B7280"/>
                </a:solidFill>
                <a:latin typeface="맑은 고딕"/>
                <a:ea typeface="맑은 고딕"/>
              </a:rPr>
              <a:t>트레드</a:t>
            </a:r>
            <a:r>
              <a:rPr sz="1200" b="0" dirty="0">
                <a:solidFill>
                  <a:srgbClr val="6B7280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6B7280"/>
                </a:solidFill>
                <a:latin typeface="맑은 고딕"/>
                <a:ea typeface="맑은 고딕"/>
              </a:rPr>
              <a:t>시편은</a:t>
            </a:r>
            <a:r>
              <a:rPr sz="1200" b="0" dirty="0">
                <a:solidFill>
                  <a:srgbClr val="6B7280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6B7280"/>
                </a:solidFill>
                <a:latin typeface="맑은 고딕"/>
                <a:ea typeface="맑은 고딕"/>
              </a:rPr>
              <a:t>구멍이</a:t>
            </a:r>
            <a:r>
              <a:rPr sz="1200" b="0" dirty="0">
                <a:solidFill>
                  <a:srgbClr val="6B7280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6B7280"/>
                </a:solidFill>
                <a:latin typeface="맑은 고딕"/>
                <a:ea typeface="맑은 고딕"/>
              </a:rPr>
              <a:t>오목</a:t>
            </a:r>
            <a:r>
              <a:rPr sz="1200" b="0" dirty="0">
                <a:solidFill>
                  <a:srgbClr val="6B7280"/>
                </a:solidFill>
                <a:latin typeface="맑은 고딕"/>
                <a:ea typeface="맑은 고딕"/>
              </a:rPr>
              <a:t>(concave)해 </a:t>
            </a:r>
            <a:r>
              <a:rPr sz="1200" b="0" dirty="0" err="1">
                <a:solidFill>
                  <a:srgbClr val="6B7280"/>
                </a:solidFill>
                <a:latin typeface="맑은 고딕"/>
                <a:ea typeface="맑은 고딕"/>
              </a:rPr>
              <a:t>기존</a:t>
            </a:r>
            <a:r>
              <a:rPr sz="1200" b="0" dirty="0">
                <a:solidFill>
                  <a:srgbClr val="6B7280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6B7280"/>
                </a:solidFill>
                <a:latin typeface="맑은 고딕"/>
                <a:ea typeface="맑은 고딕"/>
              </a:rPr>
              <a:t>측정법이</a:t>
            </a:r>
            <a:r>
              <a:rPr sz="1200" b="0" dirty="0">
                <a:solidFill>
                  <a:srgbClr val="6B7280"/>
                </a:solidFill>
                <a:latin typeface="맑은 고딕"/>
                <a:ea typeface="맑은 고딕"/>
              </a:rPr>
              <a:t> 안 </a:t>
            </a:r>
            <a:r>
              <a:rPr sz="1200" b="0" dirty="0" err="1">
                <a:solidFill>
                  <a:srgbClr val="6B7280"/>
                </a:solidFill>
                <a:latin typeface="맑은 고딕"/>
                <a:ea typeface="맑은 고딕"/>
              </a:rPr>
              <a:t>맞음</a:t>
            </a:r>
            <a:r>
              <a:rPr sz="1200" b="0" dirty="0">
                <a:solidFill>
                  <a:srgbClr val="6B7280"/>
                </a:solidFill>
                <a:latin typeface="맑은 고딕"/>
                <a:ea typeface="맑은 고딕"/>
              </a:rPr>
              <a:t> — </a:t>
            </a:r>
            <a:r>
              <a:rPr sz="1200" b="0" dirty="0" err="1">
                <a:solidFill>
                  <a:srgbClr val="6B7280"/>
                </a:solidFill>
                <a:latin typeface="맑은 고딕"/>
                <a:ea typeface="맑은 고딕"/>
              </a:rPr>
              <a:t>시편별</a:t>
            </a:r>
            <a:r>
              <a:rPr sz="1200" b="0" dirty="0">
                <a:solidFill>
                  <a:srgbClr val="6B7280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6B7280"/>
                </a:solidFill>
                <a:latin typeface="맑은 고딕"/>
                <a:ea typeface="맑은 고딕"/>
              </a:rPr>
              <a:t>파라미터</a:t>
            </a:r>
            <a:r>
              <a:rPr sz="1200" b="0" dirty="0">
                <a:solidFill>
                  <a:srgbClr val="6B7280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6B7280"/>
                </a:solidFill>
                <a:latin typeface="맑은 고딕"/>
                <a:ea typeface="맑은 고딕"/>
              </a:rPr>
              <a:t>프로파일</a:t>
            </a:r>
            <a:r>
              <a:rPr sz="1200" b="0" dirty="0">
                <a:solidFill>
                  <a:srgbClr val="6B7280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6B7280"/>
                </a:solidFill>
                <a:latin typeface="맑은 고딕"/>
                <a:ea typeface="맑은 고딕"/>
              </a:rPr>
              <a:t>구조는</a:t>
            </a:r>
            <a:r>
              <a:rPr sz="1200" b="0" dirty="0">
                <a:solidFill>
                  <a:srgbClr val="6B7280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6B7280"/>
                </a:solidFill>
                <a:latin typeface="맑은 고딕"/>
                <a:ea typeface="맑은 고딕"/>
              </a:rPr>
              <a:t>구축</a:t>
            </a:r>
            <a:r>
              <a:rPr sz="1200" b="0" dirty="0">
                <a:solidFill>
                  <a:srgbClr val="6B7280"/>
                </a:solidFill>
                <a:latin typeface="맑은 고딕"/>
                <a:ea typeface="맑은 고딕"/>
              </a:rPr>
              <a:t>, </a:t>
            </a:r>
            <a:r>
              <a:rPr sz="1200" b="0" dirty="0" err="1">
                <a:solidFill>
                  <a:srgbClr val="6B7280"/>
                </a:solidFill>
                <a:latin typeface="맑은 고딕"/>
                <a:ea typeface="맑은 고딕"/>
              </a:rPr>
              <a:t>캘리퍼</a:t>
            </a:r>
            <a:r>
              <a:rPr sz="1200" b="0" dirty="0">
                <a:solidFill>
                  <a:srgbClr val="6B7280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6B7280"/>
                </a:solidFill>
                <a:latin typeface="맑은 고딕"/>
                <a:ea typeface="맑은 고딕"/>
              </a:rPr>
              <a:t>기준값은</a:t>
            </a:r>
            <a:r>
              <a:rPr sz="1200" b="0" dirty="0">
                <a:solidFill>
                  <a:srgbClr val="6B7280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6B7280"/>
                </a:solidFill>
                <a:latin typeface="맑은 고딕"/>
                <a:ea typeface="맑은 고딕"/>
              </a:rPr>
              <a:t>별도</a:t>
            </a:r>
            <a:r>
              <a:rPr sz="1200" b="0" dirty="0">
                <a:solidFill>
                  <a:srgbClr val="6B7280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6B7280"/>
                </a:solidFill>
                <a:latin typeface="맑은 고딕"/>
                <a:ea typeface="맑은 고딕"/>
              </a:rPr>
              <a:t>측정</a:t>
            </a:r>
            <a:r>
              <a:rPr sz="1200" b="0" dirty="0">
                <a:solidFill>
                  <a:srgbClr val="6B7280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6B7280"/>
                </a:solidFill>
                <a:latin typeface="맑은 고딕"/>
                <a:ea typeface="맑은 고딕"/>
              </a:rPr>
              <a:t>필요</a:t>
            </a:r>
            <a:endParaRPr sz="1200" b="0" dirty="0">
              <a:solidFill>
                <a:srgbClr val="6B7280"/>
              </a:solidFill>
              <a:latin typeface="맑은 고딕"/>
              <a:ea typeface="맑은 고딕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22960" y="4507992"/>
            <a:ext cx="128016" cy="128016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43000" y="446227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dirty="0" err="1">
                <a:solidFill>
                  <a:srgbClr val="11243B"/>
                </a:solidFill>
                <a:latin typeface="맑은 고딕"/>
                <a:ea typeface="맑은 고딕"/>
              </a:rPr>
              <a:t>배경</a:t>
            </a:r>
            <a:r>
              <a:rPr sz="1500" b="1" dirty="0">
                <a:solidFill>
                  <a:srgbClr val="11243B"/>
                </a:solidFill>
                <a:latin typeface="맑은 고딕"/>
                <a:ea typeface="맑은 고딕"/>
              </a:rPr>
              <a:t> </a:t>
            </a:r>
            <a:r>
              <a:rPr sz="1500" b="1" dirty="0" err="1">
                <a:solidFill>
                  <a:srgbClr val="11243B"/>
                </a:solidFill>
                <a:latin typeface="맑은 고딕"/>
                <a:ea typeface="맑은 고딕"/>
              </a:rPr>
              <a:t>오탐</a:t>
            </a:r>
            <a:r>
              <a:rPr sz="1500" b="1" dirty="0">
                <a:solidFill>
                  <a:srgbClr val="11243B"/>
                </a:solidFill>
                <a:latin typeface="맑은 고딕"/>
                <a:ea typeface="맑은 고딕"/>
              </a:rPr>
              <a:t> </a:t>
            </a:r>
            <a:r>
              <a:rPr sz="1500" b="1" dirty="0" err="1">
                <a:solidFill>
                  <a:srgbClr val="11243B"/>
                </a:solidFill>
                <a:latin typeface="맑은 고딕"/>
                <a:ea typeface="맑은 고딕"/>
              </a:rPr>
              <a:t>사례</a:t>
            </a:r>
            <a:r>
              <a:rPr sz="1500" b="1" dirty="0">
                <a:solidFill>
                  <a:srgbClr val="11243B"/>
                </a:solidFill>
                <a:latin typeface="맑은 고딕"/>
                <a:ea typeface="맑은 고딕"/>
              </a:rPr>
              <a:t> </a:t>
            </a:r>
            <a:r>
              <a:rPr sz="1500" b="1" dirty="0" err="1">
                <a:solidFill>
                  <a:srgbClr val="11243B"/>
                </a:solidFill>
                <a:latin typeface="맑은 고딕"/>
                <a:ea typeface="맑은 고딕"/>
              </a:rPr>
              <a:t>발견</a:t>
            </a:r>
            <a:endParaRPr sz="1500" b="1" dirty="0">
              <a:solidFill>
                <a:srgbClr val="11243B"/>
              </a:solidFill>
              <a:latin typeface="맑은 고딕"/>
              <a:ea typeface="맑은 고딕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43000" y="4828032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dirty="0" err="1">
                <a:solidFill>
                  <a:srgbClr val="6B7280"/>
                </a:solidFill>
                <a:latin typeface="맑은 고딕"/>
                <a:ea typeface="맑은 고딕"/>
              </a:rPr>
              <a:t>모니터</a:t>
            </a:r>
            <a:r>
              <a:rPr sz="1200" b="0" dirty="0">
                <a:solidFill>
                  <a:srgbClr val="6B7280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6B7280"/>
                </a:solidFill>
                <a:latin typeface="맑은 고딕"/>
                <a:ea typeface="맑은 고딕"/>
              </a:rPr>
              <a:t>스탠드</a:t>
            </a:r>
            <a:r>
              <a:rPr sz="1200" b="0" dirty="0">
                <a:solidFill>
                  <a:srgbClr val="6B7280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6B7280"/>
                </a:solidFill>
                <a:latin typeface="맑은 고딕"/>
                <a:ea typeface="맑은 고딕"/>
              </a:rPr>
              <a:t>반사물이</a:t>
            </a:r>
            <a:r>
              <a:rPr sz="1200" b="0" dirty="0">
                <a:solidFill>
                  <a:srgbClr val="6B7280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6B7280"/>
                </a:solidFill>
                <a:latin typeface="맑은 고딕"/>
                <a:ea typeface="맑은 고딕"/>
              </a:rPr>
              <a:t>나사로</a:t>
            </a:r>
            <a:r>
              <a:rPr sz="1200" b="0" dirty="0">
                <a:solidFill>
                  <a:srgbClr val="6B7280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6B7280"/>
                </a:solidFill>
                <a:latin typeface="맑은 고딕"/>
                <a:ea typeface="맑은 고딕"/>
              </a:rPr>
              <a:t>오탐되며</a:t>
            </a:r>
            <a:r>
              <a:rPr sz="1200" b="0" dirty="0">
                <a:solidFill>
                  <a:srgbClr val="6B7280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6B7280"/>
                </a:solidFill>
                <a:latin typeface="맑은 고딕"/>
                <a:ea typeface="맑은 고딕"/>
              </a:rPr>
              <a:t>틀어짐까지</a:t>
            </a:r>
            <a:r>
              <a:rPr sz="1200" b="0" dirty="0">
                <a:solidFill>
                  <a:srgbClr val="6B7280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6B7280"/>
                </a:solidFill>
                <a:latin typeface="맑은 고딕"/>
                <a:ea typeface="맑은 고딕"/>
              </a:rPr>
              <a:t>판정된</a:t>
            </a:r>
            <a:r>
              <a:rPr sz="1200" b="0" dirty="0">
                <a:solidFill>
                  <a:srgbClr val="6B7280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6B7280"/>
                </a:solidFill>
                <a:latin typeface="맑은 고딕"/>
                <a:ea typeface="맑은 고딕"/>
              </a:rPr>
              <a:t>사례</a:t>
            </a:r>
            <a:r>
              <a:rPr sz="1200" b="0" dirty="0">
                <a:solidFill>
                  <a:srgbClr val="6B7280"/>
                </a:solidFill>
                <a:latin typeface="맑은 고딕"/>
                <a:ea typeface="맑은 고딕"/>
              </a:rPr>
              <a:t> 1건 — </a:t>
            </a:r>
            <a:r>
              <a:rPr sz="1200" b="0" dirty="0" err="1">
                <a:solidFill>
                  <a:srgbClr val="6B7280"/>
                </a:solidFill>
                <a:latin typeface="맑은 고딕"/>
                <a:ea typeface="맑은 고딕"/>
              </a:rPr>
              <a:t>면적</a:t>
            </a:r>
            <a:r>
              <a:rPr sz="1200" b="0" dirty="0">
                <a:solidFill>
                  <a:srgbClr val="6B7280"/>
                </a:solidFill>
                <a:latin typeface="맑은 고딕"/>
                <a:ea typeface="맑은 고딕"/>
              </a:rPr>
              <a:t>/</a:t>
            </a:r>
            <a:r>
              <a:rPr sz="1200" b="0" dirty="0" err="1">
                <a:solidFill>
                  <a:srgbClr val="6B7280"/>
                </a:solidFill>
                <a:latin typeface="맑은 고딕"/>
                <a:ea typeface="맑은 고딕"/>
              </a:rPr>
              <a:t>컨텍스트</a:t>
            </a:r>
            <a:r>
              <a:rPr sz="1200" b="0" dirty="0">
                <a:solidFill>
                  <a:srgbClr val="6B7280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6B7280"/>
                </a:solidFill>
                <a:latin typeface="맑은 고딕"/>
                <a:ea typeface="맑은 고딕"/>
              </a:rPr>
              <a:t>필터</a:t>
            </a:r>
            <a:r>
              <a:rPr sz="1200" b="0" dirty="0">
                <a:solidFill>
                  <a:srgbClr val="6B7280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6B7280"/>
                </a:solidFill>
                <a:latin typeface="맑은 고딕"/>
                <a:ea typeface="맑은 고딕"/>
              </a:rPr>
              <a:t>보강</a:t>
            </a:r>
            <a:r>
              <a:rPr sz="1200" b="0" dirty="0">
                <a:solidFill>
                  <a:srgbClr val="6B7280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6B7280"/>
                </a:solidFill>
                <a:latin typeface="맑은 고딕"/>
                <a:ea typeface="맑은 고딕"/>
              </a:rPr>
              <a:t>검토</a:t>
            </a:r>
            <a:endParaRPr sz="1200" b="0" dirty="0">
              <a:solidFill>
                <a:srgbClr val="6B7280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02920"/>
            <a:ext cx="54864" cy="3840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F6FED"/>
                </a:solidFill>
                <a:latin typeface="맑은 고딕"/>
              </a:rPr>
              <a:t>PROJECT BREAKDOWN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4980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1243B"/>
                </a:solidFill>
                <a:latin typeface="맑은 고딕"/>
              </a:rPr>
              <a:t>6단계 과제를 21개 세부 작업으로 분할 진행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691640"/>
          <a:ext cx="10515600" cy="4206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89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089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단계</a:t>
                      </a:r>
                    </a:p>
                  </a:txBody>
                  <a:tcPr marT="38100" marB="38100" anchor="ctr">
                    <a:solidFill>
                      <a:srgbClr val="2F6F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세부작업 수</a:t>
                      </a:r>
                    </a:p>
                  </a:txBody>
                  <a:tcPr marT="38100" marB="38100" anchor="ctr">
                    <a:solidFill>
                      <a:srgbClr val="2F6F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세분화 내용</a:t>
                      </a:r>
                    </a:p>
                  </a:txBody>
                  <a:tcPr marT="38100" marB="38100" anchor="ctr">
                    <a:solidFill>
                      <a:srgbClr val="2F6F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1243B"/>
                          </a:solidFill>
                          <a:latin typeface="맑은 고딕"/>
                        </a:rPr>
                        <a:t>3. Depth 전처리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F6FED"/>
                          </a:solidFill>
                          <a:latin typeface="맑은 고딕"/>
                        </a:rPr>
                        <a:t>4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6B7280"/>
                          </a:solidFill>
                          <a:latin typeface="맑은 고딕"/>
                        </a:rPr>
                        <a:t>decimation · spatial filter · temporal filter · 다중 프레임 합성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1243B"/>
                          </a:solidFill>
                          <a:latin typeface="맑은 고딕"/>
                        </a:rPr>
                        <a:t>4. Segmentation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F6FED"/>
                          </a:solidFill>
                          <a:latin typeface="맑은 고딕"/>
                        </a:rPr>
                        <a:t>4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6B7280"/>
                          </a:solidFill>
                          <a:latin typeface="맑은 고딕"/>
                        </a:rPr>
                        <a:t>데이터 준비 · 학습 · stud_hole 재현율 개선(4-2) · 가장자리 구멍 보정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1243B"/>
                          </a:solidFill>
                          <a:latin typeface="맑은 고딕"/>
                        </a:rPr>
                        <a:t>5. px→mm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F6FED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6B7280"/>
                          </a:solidFill>
                          <a:latin typeface="맑은 고딕"/>
                        </a:rPr>
                        <a:t>검출 방식 전환(YOLO→색상) · 정확도 검증(평면-호모그래피)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1243B"/>
                          </a:solidFill>
                          <a:latin typeface="맑은 고딕"/>
                        </a:rPr>
                        <a:t>6. 삽입 불량 판단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F6FED"/>
                          </a:solidFill>
                          <a:latin typeface="맑은 고딕"/>
                        </a:rPr>
                        <a:t>4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6B7280"/>
                          </a:solidFill>
                          <a:latin typeface="맑은 고딕"/>
                        </a:rPr>
                        <a:t>틀어짐-각도 · 틀어짐-평면 · 덜박힘 · 디버깅(검출 유실 원인)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1243B"/>
                          </a:solidFill>
                          <a:latin typeface="맑은 고딕"/>
                        </a:rPr>
                        <a:t>7. 실시간화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F6FED"/>
                          </a:solidFill>
                          <a:latin typeface="맑은 고딕"/>
                        </a:rPr>
                        <a:t>4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6B7280"/>
                          </a:solidFill>
                          <a:latin typeface="맑은 고딕"/>
                        </a:rPr>
                        <a:t>공용 모듈 분리 · 상태머신 · 셀프 리뷰 · 라이브 검출+임계값 완화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089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1243B"/>
                          </a:solidFill>
                          <a:latin typeface="맑은 고딕"/>
                        </a:rPr>
                        <a:t>8. 실시간 확장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F6FED"/>
                          </a:solidFill>
                          <a:latin typeface="맑은 고딕"/>
                        </a:rPr>
                        <a:t>4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6B7280"/>
                          </a:solidFill>
                          <a:latin typeface="맑은 고딕"/>
                        </a:rPr>
                        <a:t>임계값 완화 · 라이브 증거 캡처 · 셀프 리뷰(반실시간 vs 실시간) · 시편 프로파일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맑은 고딕"/>
              </a:rPr>
              <a:t>각 세부 작업은 실측/합성테스트로 개별 검증 후 다음 단계로 진행 — md 파일 기준 체크리스트로 추적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4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18288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F6FED"/>
                </a:solidFill>
                <a:latin typeface="맑은 고딕"/>
                <a:ea typeface="맑은 고딕"/>
              </a:rPr>
              <a:t>요약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800" b="0" dirty="0">
                <a:solidFill>
                  <a:srgbClr val="FFFFFF"/>
                </a:solidFill>
                <a:latin typeface="맑은 고딕"/>
                <a:ea typeface="맑은 고딕"/>
              </a:rPr>
              <a:t>1.  </a:t>
            </a:r>
            <a:r>
              <a:rPr sz="1800" b="0" dirty="0" err="1">
                <a:solidFill>
                  <a:srgbClr val="FFFFFF"/>
                </a:solidFill>
                <a:latin typeface="맑은 고딕"/>
                <a:ea typeface="맑은 고딕"/>
              </a:rPr>
              <a:t>구멍·나사</a:t>
            </a:r>
            <a:r>
              <a:rPr sz="1800" b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맑은 고딕"/>
                <a:ea typeface="맑은 고딕"/>
              </a:rPr>
              <a:t>검출</a:t>
            </a:r>
            <a:r>
              <a:rPr sz="1800" b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맑은 고딕"/>
                <a:ea typeface="맑은 고딕"/>
              </a:rPr>
              <a:t>정확도를</a:t>
            </a:r>
            <a:r>
              <a:rPr sz="1800" b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맑은 고딕"/>
                <a:ea typeface="맑은 고딕"/>
              </a:rPr>
              <a:t>실측</a:t>
            </a:r>
            <a:r>
              <a:rPr sz="1800" b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맑은 고딕"/>
                <a:ea typeface="맑은 고딕"/>
              </a:rPr>
              <a:t>기반</a:t>
            </a:r>
            <a:r>
              <a:rPr sz="1800" b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맑은 고딕"/>
                <a:ea typeface="맑은 고딕"/>
              </a:rPr>
              <a:t>실험으로</a:t>
            </a:r>
            <a:r>
              <a:rPr sz="1800" b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맑은 고딕"/>
                <a:ea typeface="맑은 고딕"/>
              </a:rPr>
              <a:t>반복</a:t>
            </a:r>
            <a:r>
              <a:rPr sz="1800" b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맑은 고딕"/>
                <a:ea typeface="맑은 고딕"/>
              </a:rPr>
              <a:t>개선</a:t>
            </a:r>
            <a:r>
              <a:rPr sz="1800" b="0" dirty="0">
                <a:solidFill>
                  <a:srgbClr val="FFFFFF"/>
                </a:solidFill>
                <a:latin typeface="맑은 고딕"/>
                <a:ea typeface="맑은 고딕"/>
              </a:rPr>
              <a:t> (</a:t>
            </a:r>
            <a:r>
              <a:rPr sz="1800" b="0" dirty="0" err="1">
                <a:solidFill>
                  <a:srgbClr val="FFFFFF"/>
                </a:solidFill>
                <a:latin typeface="맑은 고딕"/>
                <a:ea typeface="맑은 고딕"/>
              </a:rPr>
              <a:t>재현율</a:t>
            </a:r>
            <a:r>
              <a:rPr sz="1800" b="0" dirty="0">
                <a:solidFill>
                  <a:srgbClr val="FFFFFF"/>
                </a:solidFill>
                <a:latin typeface="맑은 고딕"/>
                <a:ea typeface="맑은 고딕"/>
              </a:rPr>
              <a:t> 9→13개, </a:t>
            </a:r>
            <a:r>
              <a:rPr sz="1800" b="0" dirty="0" err="1">
                <a:solidFill>
                  <a:srgbClr val="FFFFFF"/>
                </a:solidFill>
                <a:latin typeface="맑은 고딕"/>
                <a:ea typeface="맑은 고딕"/>
              </a:rPr>
              <a:t>색상</a:t>
            </a:r>
            <a:r>
              <a:rPr sz="1800" b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맑은 고딕"/>
                <a:ea typeface="맑은 고딕"/>
              </a:rPr>
              <a:t>기반</a:t>
            </a:r>
            <a:r>
              <a:rPr sz="1800" b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맑은 고딕"/>
                <a:ea typeface="맑은 고딕"/>
              </a:rPr>
              <a:t>전환</a:t>
            </a:r>
            <a:r>
              <a:rPr sz="1800" b="0" dirty="0">
                <a:solidFill>
                  <a:srgbClr val="FFFFFF"/>
                </a:solidFill>
                <a:latin typeface="맑은 고딕"/>
                <a:ea typeface="맑은 고딕"/>
              </a:rPr>
              <a:t>)</a:t>
            </a:r>
          </a:p>
          <a:p>
            <a:pPr algn="l">
              <a:lnSpc>
                <a:spcPct val="160000"/>
              </a:lnSpc>
            </a:pPr>
            <a:endParaRPr sz="1800" b="0" dirty="0">
              <a:solidFill>
                <a:srgbClr val="FFFFFF"/>
              </a:solidFill>
              <a:latin typeface="맑은 고딕"/>
              <a:ea typeface="맑은 고딕"/>
            </a:endParaRPr>
          </a:p>
          <a:p>
            <a:pPr algn="l">
              <a:lnSpc>
                <a:spcPct val="160000"/>
              </a:lnSpc>
            </a:pPr>
            <a:r>
              <a:rPr sz="1800" b="0" dirty="0">
                <a:solidFill>
                  <a:srgbClr val="FFFFFF"/>
                </a:solidFill>
                <a:latin typeface="맑은 고딕"/>
                <a:ea typeface="맑은 고딕"/>
              </a:rPr>
              <a:t>2.  </a:t>
            </a:r>
            <a:r>
              <a:rPr sz="1800" b="0" dirty="0" err="1">
                <a:solidFill>
                  <a:srgbClr val="FFFFFF"/>
                </a:solidFill>
                <a:latin typeface="맑은 고딕"/>
                <a:ea typeface="맑은 고딕"/>
              </a:rPr>
              <a:t>측정</a:t>
            </a:r>
            <a:r>
              <a:rPr sz="1800" b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맑은 고딕"/>
                <a:ea typeface="맑은 고딕"/>
              </a:rPr>
              <a:t>알고리즘의</a:t>
            </a:r>
            <a:r>
              <a:rPr sz="1800" b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맑은 고딕"/>
                <a:ea typeface="맑은 고딕"/>
              </a:rPr>
              <a:t>정확성을</a:t>
            </a:r>
            <a:r>
              <a:rPr sz="1800" b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맑은 고딕"/>
                <a:ea typeface="맑은 고딕"/>
              </a:rPr>
              <a:t>합성</a:t>
            </a:r>
            <a:r>
              <a:rPr sz="1800" b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맑은 고딕"/>
                <a:ea typeface="맑은 고딕"/>
              </a:rPr>
              <a:t>정답</a:t>
            </a:r>
            <a:r>
              <a:rPr sz="1800" b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맑은 고딕"/>
                <a:ea typeface="맑은 고딕"/>
              </a:rPr>
              <a:t>데이터로</a:t>
            </a:r>
            <a:r>
              <a:rPr sz="1800" b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맑은 고딕"/>
                <a:ea typeface="맑은 고딕"/>
              </a:rPr>
              <a:t>처음</a:t>
            </a:r>
            <a:r>
              <a:rPr sz="1800" b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맑은 고딕"/>
                <a:ea typeface="맑은 고딕"/>
              </a:rPr>
              <a:t>정량</a:t>
            </a:r>
            <a:r>
              <a:rPr sz="1800" b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맑은 고딕"/>
                <a:ea typeface="맑은 고딕"/>
              </a:rPr>
              <a:t>검증</a:t>
            </a:r>
            <a:endParaRPr sz="1800" b="0" dirty="0">
              <a:solidFill>
                <a:srgbClr val="FFFFFF"/>
              </a:solidFill>
              <a:latin typeface="맑은 고딕"/>
              <a:ea typeface="맑은 고딕"/>
            </a:endParaRPr>
          </a:p>
          <a:p>
            <a:pPr algn="l">
              <a:lnSpc>
                <a:spcPct val="160000"/>
              </a:lnSpc>
            </a:pPr>
            <a:endParaRPr sz="1800" b="0" dirty="0">
              <a:solidFill>
                <a:srgbClr val="FFFFFF"/>
              </a:solidFill>
              <a:latin typeface="맑은 고딕"/>
              <a:ea typeface="맑은 고딕"/>
            </a:endParaRPr>
          </a:p>
          <a:p>
            <a:pPr algn="l">
              <a:lnSpc>
                <a:spcPct val="160000"/>
              </a:lnSpc>
            </a:pPr>
            <a:r>
              <a:rPr sz="1800" b="0" dirty="0">
                <a:solidFill>
                  <a:srgbClr val="FFFFFF"/>
                </a:solidFill>
                <a:latin typeface="맑은 고딕"/>
                <a:ea typeface="맑은 고딕"/>
              </a:rPr>
              <a:t>3.  </a:t>
            </a:r>
            <a:r>
              <a:rPr sz="1800" b="0" dirty="0" err="1">
                <a:solidFill>
                  <a:srgbClr val="FFFFFF"/>
                </a:solidFill>
                <a:latin typeface="맑은 고딕"/>
                <a:ea typeface="맑은 고딕"/>
              </a:rPr>
              <a:t>실시간</a:t>
            </a:r>
            <a:r>
              <a:rPr sz="1800" b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맑은 고딕"/>
                <a:ea typeface="맑은 고딕"/>
              </a:rPr>
              <a:t>상태머신을</a:t>
            </a:r>
            <a:r>
              <a:rPr sz="1800" b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맑은 고딕"/>
                <a:ea typeface="맑은 고딕"/>
              </a:rPr>
              <a:t>현장</a:t>
            </a:r>
            <a:r>
              <a:rPr sz="1800" b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맑은 고딕"/>
                <a:ea typeface="맑은 고딕"/>
              </a:rPr>
              <a:t>실카메라로</a:t>
            </a:r>
            <a:r>
              <a:rPr sz="1800" b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맑은 고딕"/>
                <a:ea typeface="맑은 고딕"/>
              </a:rPr>
              <a:t>전체</a:t>
            </a:r>
            <a:r>
              <a:rPr sz="1800" b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맑은 고딕"/>
                <a:ea typeface="맑은 고딕"/>
              </a:rPr>
              <a:t>순환</a:t>
            </a:r>
            <a:r>
              <a:rPr sz="1800" b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맑은 고딕"/>
                <a:ea typeface="맑은 고딕"/>
              </a:rPr>
              <a:t>검증</a:t>
            </a:r>
            <a:r>
              <a:rPr sz="1800" b="0" dirty="0">
                <a:solidFill>
                  <a:srgbClr val="FFFFFF"/>
                </a:solidFill>
                <a:latin typeface="맑은 고딕"/>
                <a:ea typeface="맑은 고딕"/>
              </a:rPr>
              <a:t> (</a:t>
            </a:r>
            <a:r>
              <a:rPr sz="1800" b="0" dirty="0" err="1">
                <a:solidFill>
                  <a:srgbClr val="FFFFFF"/>
                </a:solidFill>
                <a:latin typeface="맑은 고딕"/>
                <a:ea typeface="맑은 고딕"/>
              </a:rPr>
              <a:t>측정시간</a:t>
            </a:r>
            <a:r>
              <a:rPr sz="1800" b="0" dirty="0">
                <a:solidFill>
                  <a:srgbClr val="FFFFFF"/>
                </a:solidFill>
                <a:latin typeface="맑은 고딕"/>
                <a:ea typeface="맑은 고딕"/>
              </a:rPr>
              <a:t> -37%)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7C8BA8"/>
                </a:solidFill>
                <a:latin typeface="맑은 고딕"/>
                <a:ea typeface="맑은 고딕"/>
              </a:rPr>
              <a:t>감사합니다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1327</Words>
  <Application>Microsoft Office PowerPoint</Application>
  <PresentationFormat>Widescreen</PresentationFormat>
  <Paragraphs>179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맑은 고딕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이채혁</cp:lastModifiedBy>
  <cp:revision>4</cp:revision>
  <dcterms:created xsi:type="dcterms:W3CDTF">2013-01-27T09:14:16Z</dcterms:created>
  <dcterms:modified xsi:type="dcterms:W3CDTF">2026-08-21T06:48:20Z</dcterms:modified>
  <cp:category/>
</cp:coreProperties>
</file>