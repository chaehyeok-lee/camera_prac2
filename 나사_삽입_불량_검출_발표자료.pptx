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16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94" autoAdjust="0"/>
  </p:normalViewPr>
  <p:slideViewPr>
    <p:cSldViewPr snapToGrid="0" snapToObjects="1">
      <p:cViewPr>
        <p:scale>
          <a:sx n="125" d="100"/>
          <a:sy n="125" d="100"/>
        </p:scale>
        <p:origin x="90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331720"/>
            <a:ext cx="822960" cy="7315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나사 삽입 불량 자동 검출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8C4D9"/>
                </a:solidFill>
                <a:latin typeface="맑은 고딕"/>
                <a:ea typeface="맑은 고딕"/>
              </a:rPr>
              <a:t>RealSense D435 Depth+RGB 하이브리드 검사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C8BA8"/>
                </a:solidFill>
                <a:latin typeface="맑은 고딕"/>
                <a:ea typeface="맑은 고딕"/>
              </a:rPr>
              <a:t>정상 / 덜박힘 / 틀어짐 자동 판별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핵심 성과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5257800" cy="19659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56232"/>
            <a:ext cx="480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9 → 13개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243B"/>
                </a:solidFill>
                <a:latin typeface="맑은 고딕"/>
                <a:ea typeface="맑은 고딕"/>
              </a:rPr>
              <a:t>스터드홀 탐지 개수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18688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confidence·원형도 필터 조정, 오탐 증가 없음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691640"/>
            <a:ext cx="5257800" cy="19659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856232"/>
            <a:ext cx="480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0개 → 정상 검출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8036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243B"/>
                </a:solidFill>
                <a:latin typeface="맑은 고딕"/>
                <a:ea typeface="맑은 고딕"/>
              </a:rPr>
              <a:t>나사머리(screw_head) 검출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18688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YOLO 학습 방식 실패 → 색상 기반 전환, 오차 -1.6~-7.6%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77640"/>
            <a:ext cx="5257800" cy="19659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142232"/>
            <a:ext cx="480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4.93s → 3.08s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16636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243B"/>
                </a:solidFill>
                <a:latin typeface="맑은 고딕"/>
                <a:ea typeface="맑은 고딕"/>
              </a:rPr>
              <a:t>실시간 측정 소요시간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04688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-37% · 모델 워밍업 위치 조정으로 병목 제거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977640"/>
            <a:ext cx="5257800" cy="19659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4142232"/>
            <a:ext cx="480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3/3회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16636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243B"/>
                </a:solidFill>
                <a:latin typeface="맑은 고딕"/>
                <a:ea typeface="맑은 고딕"/>
              </a:rPr>
              <a:t>현장 실카메라 상태전이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504688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정지감지→측정→결과→재트리거 전체 순환 성공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이하 슬라이드에서 각 성과의 근거(실측 사진·로그)를 순서대로 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문제 정의 및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1243B"/>
                </a:solidFill>
                <a:latin typeface="맑은 고딕"/>
                <a:ea typeface="맑은 고딕"/>
              </a:rPr>
              <a:t>목표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1243B"/>
                </a:solidFill>
                <a:latin typeface="맑은 고딕"/>
                <a:ea typeface="맑은 고딕"/>
              </a:rPr>
              <a:t>타이어 허브 나사 삽입 상태를 3가지로 자동 판별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1243B"/>
                </a:solidFill>
                <a:latin typeface="맑은 고딕"/>
                <a:ea typeface="맑은 고딕"/>
              </a:rPr>
              <a:t>(정상 / 덜박힘 / 틀어짐)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1243B"/>
                </a:solidFill>
                <a:latin typeface="맑은 고딕"/>
                <a:ea typeface="맑은 고딕"/>
              </a:rPr>
              <a:t>제약 조건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1243B"/>
                </a:solidFill>
                <a:latin typeface="맑은 고딕"/>
                <a:ea typeface="맑은 고딕"/>
              </a:rPr>
              <a:t>· 시편 3개, 측정거리 250mm 고정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1243B"/>
                </a:solidFill>
                <a:latin typeface="맑은 고딕"/>
                <a:ea typeface="맑은 고딕"/>
              </a:rPr>
              <a:t>· Intel RealSense D435 (Depth+RGB)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960120" cy="96012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Depth
전처리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60920" y="2784348"/>
            <a:ext cx="256032" cy="14630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344728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3번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6952" y="2377440"/>
            <a:ext cx="960120" cy="96012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Segmentation
학습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77072" y="2784348"/>
            <a:ext cx="256032" cy="14630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25512" y="344728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4번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33104" y="2377440"/>
            <a:ext cx="960120" cy="96012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px→mm
환산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93224" y="2784348"/>
            <a:ext cx="256032" cy="14630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41664" y="344728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5번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49256" y="2377440"/>
            <a:ext cx="960120" cy="96012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불량
판정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009376" y="2784348"/>
            <a:ext cx="256032" cy="14630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57816" y="344728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6번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265408" y="2377440"/>
            <a:ext cx="960120" cy="960120"/>
          </a:xfrm>
          <a:prstGeom prst="roundRect">
            <a:avLst/>
          </a:prstGeom>
          <a:solidFill>
            <a:srgbClr val="1E4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실시간화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3968" y="344728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7번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3번(Depth 전처리)~7번(실시간화) 순서로 진행 · 4~6번이 핵심 정확도 개선 구간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63640" y="3840480"/>
          <a:ext cx="5943600" cy="2514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08760"/>
                <a:gridCol w="4434840"/>
              </a:tblGrid>
              <a:tr h="4191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anchor="ctr" marT="25400" marB="25400"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T="25400" marB="25400">
                    <a:solidFill>
                      <a:srgbClr val="2F6FED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243B"/>
                          </a:solidFill>
                          <a:latin typeface="맑은 고딕"/>
                        </a:rPr>
                        <a:t>3. Depth 전처리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6B7280"/>
                          </a:solidFill>
                          <a:latin typeface="맑은 고딕"/>
                        </a:rPr>
                        <a:t>RealSense 필터체인(spatial/temporal/hole-filling) 튜닝 + 다중프레임 평균으로 노이즈 최소화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243B"/>
                          </a:solidFill>
                          <a:latin typeface="맑은 고딕"/>
                        </a:rPr>
                        <a:t>4. Segmentation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6B7280"/>
                          </a:solidFill>
                          <a:latin typeface="맑은 고딕"/>
                        </a:rPr>
                        <a:t>YOLOv8n-seg, COCO 사전학습 → 직접 라벨링한 14장으로 전이학습 (구멍 탐지용)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243B"/>
                          </a:solidFill>
                          <a:latin typeface="맑은 고딕"/>
                        </a:rPr>
                        <a:t>5. px→mm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6B7280"/>
                          </a:solidFill>
                          <a:latin typeface="맑은 고딕"/>
                        </a:rPr>
                        <a:t>핀홀 공식(지름px×depth/fx) + 평면-호모그래피로 기울기 오차 보정 · 나사머리는 YOLO 대신 Otsu 밝기임계값(색상 기반)으로 전환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243B"/>
                          </a:solidFill>
                          <a:latin typeface="맑은 고딕"/>
                        </a:rPr>
                        <a:t>6. 불량판정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6B7280"/>
                          </a:solidFill>
                          <a:latin typeface="맑은 고딕"/>
                        </a:rPr>
                        <a:t>틀어짐=RGB 장단축비(aspect_ratio), 덜박힘=depth 평면피팅 돌출량 측정 후 5mm 고정 임계값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1243B"/>
                          </a:solidFill>
                          <a:latin typeface="맑은 고딕"/>
                        </a:rPr>
                        <a:t>7. 실시간화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6B7280"/>
                          </a:solidFill>
                          <a:latin typeface="맑은 고딕"/>
                        </a:rPr>
                        <a:t>depth 변화량 기반 정지감지(모션 디바운싱) → 자동 트리거 → 5·6번 파이프라인 재사용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ED"/>
                </a:solidFill>
                <a:latin typeface="맑은 고딕"/>
              </a:rPr>
              <a:t>3. DEPTH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43B"/>
                </a:solidFill>
                <a:latin typeface="맑은 고딕"/>
              </a:rPr>
              <a:t>노이즈 저감 실험으로 파이프라인 확정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25192" y="1719072"/>
            <a:ext cx="3387198" cy="2642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-3_spatial_pareto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80" y="1737360"/>
            <a:ext cx="3350622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3480" y="4434840"/>
            <a:ext cx="33506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B7280"/>
                </a:solidFill>
                <a:latin typeface="맑은 고딕"/>
              </a:rPr>
              <a:t>필터 기법 비교 · RealSense spatial 채택 (노이즈 -49%)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4415" y="1719072"/>
            <a:ext cx="3685031" cy="2642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3-4_temporal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703" y="1737360"/>
            <a:ext cx="3648456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22703" y="4434840"/>
            <a:ext cx="3648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B7280"/>
                </a:solidFill>
                <a:latin typeface="맑은 고딕"/>
              </a:rPr>
              <a:t>시간축 필터 강도 · alpha=0.1 채택 (노이즈 사실상 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81471" y="1719072"/>
            <a:ext cx="3685031" cy="2642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3-6_multiframe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759" y="1737360"/>
            <a:ext cx="3648456" cy="2606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99759" y="4434840"/>
            <a:ext cx="3648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B7280"/>
                </a:solidFill>
                <a:latin typeface="맑은 고딕"/>
              </a:rPr>
              <a:t>합성 프레임 수 · N=30 채택 (knee point)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3개 실험 모두 캘리퍼 없이 상대 비교로 최적값 도출 · 절대 정확도 검증은 4~6번에서 별도 진행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4. SEGMENTATION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스터드홀(stud_hole) 탐지 재현율 개선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2326291"/>
            <a:ext cx="5111496" cy="289121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4-2_hole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44579"/>
            <a:ext cx="5074920" cy="28546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99632" y="2326291"/>
            <a:ext cx="5111496" cy="289121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4-2_hole_low_conf_circul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344579"/>
            <a:ext cx="5074920" cy="28546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32588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B7280"/>
                </a:solidFill>
                <a:latin typeface="맑은 고딕"/>
                <a:ea typeface="맑은 고딕"/>
              </a:rPr>
              <a:t>BEFORE · 9개 탐지 (conf=0.28)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2588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A34A"/>
                </a:solidFill>
                <a:latin typeface="맑은 고딕"/>
                <a:ea typeface="맑은 고딕"/>
              </a:rPr>
              <a:t>AFTER · 13개 탐지 (conf=0.15 + 원형도 필터)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동일 프레임 비교 · 기존 9개 위치 그대로 유지 + 4개 추가 검출, 오탐 육안상 없음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5. PX → MM 환산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나사머리(screw_head) 검출 방식 전환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6016752" y="2161984"/>
            <a:ext cx="5614416" cy="317411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5_px_to_mm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180272"/>
            <a:ext cx="5577840" cy="31375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C2626"/>
                </a:solidFill>
                <a:latin typeface="맑은 고딕"/>
                <a:ea typeface="맑은 고딕"/>
              </a:rPr>
              <a:t>학습 기반(YOLO)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·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학습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인스턴스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다양성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부족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(14장)</a:t>
            </a:r>
          </a:p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· held-out(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미학습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)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이미지에서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lang="en-US" sz="1300" b="0" dirty="0">
                <a:solidFill>
                  <a:srgbClr val="11243B"/>
                </a:solidFill>
                <a:latin typeface="맑은 고딕"/>
                <a:ea typeface="맑은 고딕"/>
              </a:rPr>
              <a:t>	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화면에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뚜렷이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보이는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나사를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0개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검출</a:t>
            </a:r>
            <a:endParaRPr sz="1300" b="0" dirty="0">
              <a:solidFill>
                <a:srgbClr val="11243B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A34A"/>
                </a:solidFill>
                <a:latin typeface="맑은 고딕"/>
                <a:ea typeface="맑은 고딕"/>
              </a:rPr>
              <a:t>색상(명도) 기반 고전 CV 전환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·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은색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나사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vs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무광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검정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배경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→ Otsu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임계값만으로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학습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없이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검출</a:t>
            </a:r>
            <a:endParaRPr sz="1300" b="0" dirty="0">
              <a:solidFill>
                <a:srgbClr val="11243B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·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실측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오차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-1.6% ~ -7.6% 로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대폭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개선</a:t>
            </a:r>
            <a:endParaRPr sz="1300" b="0" dirty="0">
              <a:solidFill>
                <a:srgbClr val="11243B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·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기울어진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나사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(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타원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투영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)는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aspect_ratio로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'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틀어짐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'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별도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분류</a:t>
            </a:r>
            <a:endParaRPr sz="1300" b="0" dirty="0">
              <a:solidFill>
                <a:srgbClr val="11243B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우측: 실제 캡처 결과 · 초록=정상 나사, 빨강=틀어짐, 노랑=stud_hole, 라벨에 mm값 표기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5. PX → MM 환산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지름 측정 정확도 검증 — 평면-호모그래피 보정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3291840" cy="1828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56232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3.1% → 0.3%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243B"/>
                </a:solidFill>
                <a:latin typeface="맑은 고딕"/>
                <a:ea typeface="맑은 고딕"/>
              </a:rPr>
              <a:t>지름 측정 오차 (합성 정답 데이터 기준)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8152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패널 기울기로 인한 시야각 오차를 depth 평면 피팅으로 보정, 10배 개선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03320"/>
            <a:ext cx="3291840" cy="1828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867912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0.9999998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548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243B"/>
                </a:solidFill>
                <a:latin typeface="맑은 고딕"/>
                <a:ea typeface="맑은 고딕"/>
              </a:rPr>
              <a:t>평면 법선 추정 정확도 (내적)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9320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합성 3D 기울기 시뮬레이션으로 알고리즘 자체를 정량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91640"/>
            <a:ext cx="69494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검증</a:t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방법</a:t>
            </a:r>
            <a:endParaRPr sz="1350" b="0" dirty="0">
              <a:solidFill>
                <a:srgbClr val="11243B"/>
              </a:solidFill>
              <a:latin typeface="맑은 고딕"/>
              <a:ea typeface="맑은 고딕"/>
            </a:endParaRPr>
          </a:p>
          <a:p>
            <a:pPr algn="l">
              <a:lnSpc>
                <a:spcPct val="135000"/>
              </a:lnSpc>
            </a:pP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실카메라로는 '정답 지름'을 모름 → 알려진 각도·반지름의 3D 원을 합성해 알고리즘만 따로 검증</a:t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35000"/>
              </a:lnSpc>
            </a:pPr>
            <a:endParaRPr sz="1350" b="0" dirty="0">
              <a:solidFill>
                <a:srgbClr val="11243B"/>
              </a:solidFill>
              <a:latin typeface="맑은 고딕"/>
              <a:ea typeface="맑은 고딕"/>
            </a:endParaRPr>
          </a:p>
          <a:p>
            <a:pPr algn="l">
              <a:lnSpc>
                <a:spcPct val="135000"/>
              </a:lnSpc>
            </a:pP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실제</a:t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시편</a:t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적용</a:t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결과</a:t>
            </a:r>
            <a:endParaRPr sz="1350" b="0" dirty="0">
              <a:solidFill>
                <a:srgbClr val="11243B"/>
              </a:solidFill>
              <a:latin typeface="맑은 고딕"/>
              <a:ea typeface="맑은 고딕"/>
            </a:endParaRPr>
          </a:p>
          <a:p>
            <a:pPr algn="l">
              <a:lnSpc>
                <a:spcPct val="135000"/>
              </a:lnSpc>
            </a:pP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이번 시편은 기울기가 작아 오차(+16%) 거의 그대로 남음 — 원인은 기울기가 아니라 세그멘테이션 마스크 해상도로 규명</a:t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정직한 결과 보고: 알고리즘 정확성은 합성 데이터로 검증됨, 실제 오차 원인 규명은 별도 성과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6. 삽입 불량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최종 판정 결과물</a:t>
            </a:r>
          </a:p>
        </p:txBody>
      </p:sp>
      <p:sp>
        <p:nvSpPr>
          <p:cNvPr id="5" name="Rectangle 4"/>
          <p:cNvSpPr/>
          <p:nvPr/>
        </p:nvSpPr>
        <p:spPr>
          <a:xfrm>
            <a:off x="2907792" y="2001964"/>
            <a:ext cx="6345936" cy="358559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6_insertion_check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20252"/>
            <a:ext cx="6309360" cy="35490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01168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A34A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초록 원으로 표시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aspect_ratio·중심좌표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C2626"/>
                </a:solidFill>
                <a:latin typeface="맑은 고딕"/>
                <a:ea typeface="맑은 고딕"/>
              </a:rPr>
              <a:t>이상(틀어짐·덜박힘)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dirty="0" err="1">
                <a:solidFill>
                  <a:srgbClr val="6B7280"/>
                </a:solidFill>
                <a:latin typeface="맑은 고딕"/>
                <a:ea typeface="맑은 고딕"/>
              </a:rPr>
              <a:t>빨강 원으로 표시</a:t>
            </a:r>
            <a:r>
              <a:rPr sz="1100" b="0" dirty="0">
                <a:solidFill>
                  <a:srgbClr val="6B7280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6B7280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6B7280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6B7280"/>
                </a:solidFill>
                <a:latin typeface="맑은 고딕"/>
                <a:ea typeface="맑은 고딕"/>
              </a:rPr>
              <a:t/>
            </a:r>
            <a:endParaRPr sz="1100" b="0" dirty="0">
              <a:solidFill>
                <a:srgbClr val="6B7280"/>
              </a:solidFill>
              <a:latin typeface="맑은 고딕"/>
              <a:ea typeface="맑은 고딕"/>
            </a:endParaRPr>
          </a:p>
          <a:p>
            <a:pPr algn="l">
              <a:lnSpc>
                <a:spcPct val="130000"/>
              </a:lnSpc>
            </a:pPr>
            <a:r>
              <a:rPr sz="1100" b="0" dirty="0" err="1">
                <a:solidFill>
                  <a:srgbClr val="6B7280"/>
                </a:solidFill>
                <a:latin typeface="맑은 고딕"/>
                <a:ea typeface="맑은 고딕"/>
              </a:rPr>
              <a:t>라벨 텍스트로 원인 구분(각도/깊이)</a:t>
            </a:r>
            <a:r>
              <a:rPr sz="1100" b="0" dirty="0">
                <a:solidFill>
                  <a:srgbClr val="6B7280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6B7280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6B7280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6B7280"/>
                </a:solidFill>
                <a:latin typeface="맑은 고딕"/>
                <a:ea typeface="맑은 고딕"/>
              </a:rPr>
              <a:t/>
            </a:r>
            <a:endParaRPr sz="1100" b="0" dirty="0">
              <a:solidFill>
                <a:srgbClr val="6B7280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21488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 err="1">
                <a:solidFill>
                  <a:srgbClr val="FFC000"/>
                </a:solidFill>
                <a:latin typeface="맑은 고딕"/>
                <a:ea typeface="맑은 고딕"/>
              </a:rPr>
              <a:t>구멍</a:t>
            </a:r>
            <a:endParaRPr sz="1400" b="1" dirty="0">
              <a:solidFill>
                <a:srgbClr val="FFC000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노랑 원 · mm 자동 라벨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한 장의 캡처에서 구멍 탐지 + 나사 상태(정상/덜박힘/틀어짐) 판정을 동시에 자동 표시 · 덜박힘 임계값 5.0mm 확정(53개 표본 이중분포 근거)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7. 실시간 검출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실시간 상태머신 &amp; 현장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5742432" y="1828800"/>
            <a:ext cx="588873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7_realtim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85216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1783080"/>
            <a:ext cx="1051560" cy="77724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WAITING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37360" y="2107692"/>
            <a:ext cx="320040" cy="12801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057400" y="1783080"/>
            <a:ext cx="1051560" cy="77724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SETTLING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2107692"/>
            <a:ext cx="320040" cy="12801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29000" y="1783080"/>
            <a:ext cx="1051560" cy="77724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MEASURING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480560" y="2107692"/>
            <a:ext cx="320040" cy="12801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00600" y="1783080"/>
            <a:ext cx="1051560" cy="77724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RESULT
SHOWN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모션 재감지 시 RESULT_SHOWN → WAITING 복귀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383280"/>
            <a:ext cx="242316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547872"/>
            <a:ext cx="1965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-37%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243B"/>
                </a:solidFill>
                <a:latin typeface="맑은 고딕"/>
                <a:ea typeface="맑은 고딕"/>
              </a:rPr>
              <a:t>측정 소요시간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44568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4.93s → 3.08s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383280"/>
            <a:ext cx="242316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3547872"/>
            <a:ext cx="1965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3/3회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206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243B"/>
                </a:solidFill>
                <a:latin typeface="맑은 고딕"/>
                <a:ea typeface="맑은 고딕"/>
              </a:rPr>
              <a:t>현장 순환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544568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치웠다 놓기 반복 성공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2120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1243B"/>
                </a:solidFill>
                <a:latin typeface="맑은 고딕"/>
                <a:ea typeface="맑은 고딕"/>
              </a:rPr>
              <a:t>자기검증 메커니즘 실동작 확인: 15프레임 버스트 2회 비교 중 실제 불일치(나사 4개/3개) 발생 → 30프레임 재측정으로 자동 전환 → 원인(반사로 인한 depth 유실, 배경 오탐)까지 로그로 정확히 규명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6번과 동일한 판정 로직(정상/덜박힘/틀어짐)을 그대로 재사용 · 카메라 고정 + 시편 이동 전제, 정지 감지 시 자동 실행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한계 및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28016" cy="12801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243B"/>
                </a:solidFill>
                <a:latin typeface="맑은 고딕"/>
                <a:ea typeface="맑은 고딕"/>
              </a:rPr>
              <a:t>틀어짐(평면) 판정 미해결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삽입된 나사가 자기 구멍을 가려 중심좌표 매칭이 근본적으로 불가능 — 재설계 필요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4640"/>
            <a:ext cx="128016" cy="12801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788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243B"/>
                </a:solidFill>
                <a:latin typeface="맑은 고딕"/>
                <a:ea typeface="맑은 고딕"/>
              </a:rPr>
              <a:t>다른 시편 캘리퍼 값 미확보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546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새 트레드 시편은 구멍이 오목(concave)해 기존 측정법이 안 맞음 — 시편별 파라미터 프로파일 구조는 구축, 캘리퍼 기준값은 별도 측정 필요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31920"/>
            <a:ext cx="128016" cy="12801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886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243B"/>
                </a:solidFill>
                <a:latin typeface="맑은 고딕"/>
                <a:ea typeface="맑은 고딕"/>
              </a:rPr>
              <a:t>모션 감지 임계값 정밀 재보정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5196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현장에서 실제 이동으로 3/3회 정상 동작 확인(잠정값 0.5mm) — 원격 캘리브레이션은 시편을 못 움직여 실패, 정식 재보정은 아직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029200"/>
            <a:ext cx="128016" cy="12801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983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243B"/>
                </a:solidFill>
                <a:latin typeface="맑은 고딕"/>
                <a:ea typeface="맑은 고딕"/>
              </a:rPr>
              <a:t>배경 오탐 사례 발견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3492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모니터 스탠드 반사물이 나사로 오탐되며 틀어짐까지 판정된 사례 1건 — 면적/컨텍스트 필터 보강 검토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D"/>
                </a:solidFill>
                <a:latin typeface="맑은 고딕"/>
                <a:ea typeface="맑은 고딕"/>
              </a:rPr>
              <a:t>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맑은 고딕"/>
                <a:ea typeface="맑은 고딕"/>
              </a:rPr>
              <a:t>1.  구멍·나사 검출 정확도를 실측 기반 실험으로 반복 개선 (재현율 9→13개, 색상 기반 전환)</a:t>
            </a:r>
          </a:p>
          <a:p>
            <a:pPr algn="l">
              <a:lnSpc>
                <a:spcPct val="160000"/>
              </a:lnSpc>
            </a:pPr>
            <a:endParaRPr sz="1800" b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맑은 고딕"/>
                <a:ea typeface="맑은 고딕"/>
              </a:rPr>
              <a:t>2.  측정 알고리즘의 정확성을 합성 정답 데이터로 처음 정량 검증</a:t>
            </a:r>
          </a:p>
          <a:p>
            <a:pPr algn="l">
              <a:lnSpc>
                <a:spcPct val="160000"/>
              </a:lnSpc>
            </a:pPr>
            <a:endParaRPr sz="1800" b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맑은 고딕"/>
                <a:ea typeface="맑은 고딕"/>
              </a:rPr>
              <a:t>3.  실시간 상태머신을 현장 실카메라로 전체 순환 검증 (측정시간 -37%)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C8BA8"/>
                </a:solidFill>
                <a:latin typeface="맑은 고딕"/>
                <a:ea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844</Words>
  <Application>Microsoft Office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이채혁</cp:lastModifiedBy>
  <cp:revision>2</cp:revision>
  <dcterms:created xsi:type="dcterms:W3CDTF">2013-01-27T09:14:16Z</dcterms:created>
  <dcterms:modified xsi:type="dcterms:W3CDTF">2026-08-20T05:39:08Z</dcterms:modified>
  <cp:category/>
</cp:coreProperties>
</file>