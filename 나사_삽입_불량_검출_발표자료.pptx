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24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331720"/>
            <a:ext cx="822960" cy="73152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</a:rPr>
              <a:t>나사 삽입 불량 자동 검출 시스템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4290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B8C4D9"/>
                </a:solidFill>
                <a:latin typeface="맑은 고딕"/>
                <a:ea typeface="맑은 고딕"/>
              </a:rPr>
              <a:t>RealSense D435 Depth+RGB 하이브리드 검사 파이프라인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0350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7C8BA8"/>
                </a:solidFill>
                <a:latin typeface="맑은 고딕"/>
                <a:ea typeface="맑은 고딕"/>
              </a:rPr>
              <a:t>정상 / 덜박힘 / 틀어짐 자동 판별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54864" cy="3840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F6FED"/>
                </a:solidFill>
                <a:latin typeface="맑은 고딕"/>
                <a:ea typeface="맑은 고딕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49808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1243B"/>
                </a:solidFill>
                <a:latin typeface="맑은 고딕"/>
                <a:ea typeface="맑은 고딕"/>
              </a:rPr>
              <a:t>핵심 성과 요약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91640"/>
            <a:ext cx="5257800" cy="196596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856232"/>
            <a:ext cx="48006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F6FED"/>
                </a:solidFill>
                <a:latin typeface="맑은 고딕"/>
                <a:ea typeface="맑은 고딕"/>
              </a:rPr>
              <a:t>9 → 13개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88036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1243B"/>
                </a:solidFill>
                <a:latin typeface="맑은 고딕"/>
                <a:ea typeface="맑은 고딕"/>
              </a:rPr>
              <a:t>스터드홀 탐지 개수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218688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confidence·원형도 필터 조정, 오탐 증가 없음 확인</a:t>
            </a:r>
          </a:p>
        </p:txBody>
      </p:sp>
      <p:sp>
        <p:nvSpPr>
          <p:cNvPr id="9" name="Rectangle 8"/>
          <p:cNvSpPr/>
          <p:nvPr/>
        </p:nvSpPr>
        <p:spPr>
          <a:xfrm>
            <a:off x="6446520" y="1691640"/>
            <a:ext cx="5257800" cy="196596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1856232"/>
            <a:ext cx="48006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F6FED"/>
                </a:solidFill>
                <a:latin typeface="맑은 고딕"/>
                <a:ea typeface="맑은 고딕"/>
              </a:rPr>
              <a:t>0개 → 정상 검출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88036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1243B"/>
                </a:solidFill>
                <a:latin typeface="맑은 고딕"/>
                <a:ea typeface="맑은 고딕"/>
              </a:rPr>
              <a:t>나사머리(screw_head) 검출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3218688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YOLO 학습 방식 실패 → 색상 기반 전환, 오차 -1.6~-7.6%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3977640"/>
            <a:ext cx="5257800" cy="196596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4142232"/>
            <a:ext cx="48006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F6FED"/>
                </a:solidFill>
                <a:latin typeface="맑은 고딕"/>
                <a:ea typeface="맑은 고딕"/>
              </a:rPr>
              <a:t>4.93s → 3.08s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516636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1243B"/>
                </a:solidFill>
                <a:latin typeface="맑은 고딕"/>
                <a:ea typeface="맑은 고딕"/>
              </a:rPr>
              <a:t>실시간 측정 소요시간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5504688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-37% · 모델 워밍업 위치 조정으로 병목 제거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6520" y="3977640"/>
            <a:ext cx="5257800" cy="196596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0" y="4142232"/>
            <a:ext cx="48006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F6FED"/>
                </a:solidFill>
                <a:latin typeface="맑은 고딕"/>
                <a:ea typeface="맑은 고딕"/>
              </a:rPr>
              <a:t>3/3회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516636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1243B"/>
                </a:solidFill>
                <a:latin typeface="맑은 고딕"/>
                <a:ea typeface="맑은 고딕"/>
              </a:rPr>
              <a:t>현장 실카메라 상태전이 검증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5504688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정지감지→측정→결과→재트리거 전체 순환 성공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44652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맑은 고딕"/>
                <a:ea typeface="맑은 고딕"/>
              </a:rPr>
              <a:t>이하 슬라이드에서 각 성과의 근거(실측 사진·로그)를 순서대로 제시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54864" cy="3840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F6FED"/>
                </a:solidFill>
                <a:latin typeface="맑은 고딕"/>
                <a:ea typeface="맑은 고딕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49808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1243B"/>
                </a:solidFill>
                <a:latin typeface="맑은 고딕"/>
                <a:ea typeface="맑은 고딕"/>
              </a:rPr>
              <a:t>문제 정의 및 파이프라인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51206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1243B"/>
                </a:solidFill>
                <a:latin typeface="맑은 고딕"/>
                <a:ea typeface="맑은 고딕"/>
              </a:rPr>
              <a:t>목표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11243B"/>
                </a:solidFill>
                <a:latin typeface="맑은 고딕"/>
                <a:ea typeface="맑은 고딕"/>
              </a:rPr>
              <a:t>타이어 허브 나사 삽입 상태를 3가지로 자동 판별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11243B"/>
                </a:solidFill>
                <a:latin typeface="맑은 고딕"/>
                <a:ea typeface="맑은 고딕"/>
              </a:rPr>
              <a:t>(정상 / 덜박힘 / 틀어짐)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34640"/>
            <a:ext cx="51206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1243B"/>
                </a:solidFill>
                <a:latin typeface="맑은 고딕"/>
                <a:ea typeface="맑은 고딕"/>
              </a:rPr>
              <a:t>제약 조건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11243B"/>
                </a:solidFill>
                <a:latin typeface="맑은 고딕"/>
                <a:ea typeface="맑은 고딕"/>
              </a:rPr>
              <a:t>· 시편 3개, 측정거리 250mm 고정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11243B"/>
                </a:solidFill>
                <a:latin typeface="맑은 고딕"/>
                <a:ea typeface="맑은 고딕"/>
              </a:rPr>
              <a:t>· Intel RealSense D435 (Depth+RGB)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2377440"/>
            <a:ext cx="960120" cy="960120"/>
          </a:xfrm>
          <a:prstGeom prst="round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Depth
전처리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360920" y="2784348"/>
            <a:ext cx="256032" cy="146304"/>
          </a:xfrm>
          <a:prstGeom prst="rightArrow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3447288"/>
            <a:ext cx="1143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3번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16952" y="2377440"/>
            <a:ext cx="960120" cy="960120"/>
          </a:xfrm>
          <a:prstGeom prst="round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Segmentation
학습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577072" y="2784348"/>
            <a:ext cx="256032" cy="146304"/>
          </a:xfrm>
          <a:prstGeom prst="rightArrow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25512" y="3447288"/>
            <a:ext cx="1143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4번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33104" y="2377440"/>
            <a:ext cx="960120" cy="960120"/>
          </a:xfrm>
          <a:prstGeom prst="round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px→mm
환산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9793224" y="2784348"/>
            <a:ext cx="256032" cy="146304"/>
          </a:xfrm>
          <a:prstGeom prst="rightArrow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41664" y="3447288"/>
            <a:ext cx="1143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5번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49256" y="2377440"/>
            <a:ext cx="960120" cy="960120"/>
          </a:xfrm>
          <a:prstGeom prst="round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불량
판정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11009376" y="2784348"/>
            <a:ext cx="256032" cy="146304"/>
          </a:xfrm>
          <a:prstGeom prst="rightArrow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57816" y="3447288"/>
            <a:ext cx="1143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6번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265408" y="2377440"/>
            <a:ext cx="960120" cy="960120"/>
          </a:xfrm>
          <a:prstGeom prst="roundRect">
            <a:avLst/>
          </a:prstGeom>
          <a:solidFill>
            <a:srgbClr val="1E4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실시간화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3968" y="3447288"/>
            <a:ext cx="1143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7번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44652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맑은 고딕"/>
                <a:ea typeface="맑은 고딕"/>
              </a:rPr>
              <a:t>3번(Depth 전처리)~7번(실시간화) 순서로 진행 · 4~6번이 핵심 정확도 개선 구간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54864" cy="3840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F6FED"/>
                </a:solidFill>
                <a:latin typeface="맑은 고딕"/>
                <a:ea typeface="맑은 고딕"/>
              </a:rPr>
              <a:t>4. SEGMENTATION 개선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49808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1243B"/>
                </a:solidFill>
                <a:latin typeface="맑은 고딕"/>
                <a:ea typeface="맑은 고딕"/>
              </a:rPr>
              <a:t>스터드홀(stud_hole) 탐지 재현율 개선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2326291"/>
            <a:ext cx="5111496" cy="289121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4-2_hole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344579"/>
            <a:ext cx="5074920" cy="285464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199632" y="2326291"/>
            <a:ext cx="5111496" cy="289121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4-2_hole_low_conf_circular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344579"/>
            <a:ext cx="5074920" cy="285464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5800" y="1325880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6B7280"/>
                </a:solidFill>
                <a:latin typeface="맑은 고딕"/>
                <a:ea typeface="맑은 고딕"/>
              </a:rPr>
              <a:t>BEFORE · 9개 탐지 (conf=0.28)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325880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6A34A"/>
                </a:solidFill>
                <a:latin typeface="맑은 고딕"/>
                <a:ea typeface="맑은 고딕"/>
              </a:rPr>
              <a:t>AFTER · 13개 탐지 (conf=0.15 + 원형도 필터)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44652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맑은 고딕"/>
                <a:ea typeface="맑은 고딕"/>
              </a:rPr>
              <a:t>동일 프레임 비교 · 기존 9개 위치 그대로 유지 + 4개 추가 검출, 오탐 육안상 없음 확인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54864" cy="3840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F6FED"/>
                </a:solidFill>
                <a:latin typeface="맑은 고딕"/>
                <a:ea typeface="맑은 고딕"/>
              </a:rPr>
              <a:t>5. PX → MM 환산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49808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1243B"/>
                </a:solidFill>
                <a:latin typeface="맑은 고딕"/>
                <a:ea typeface="맑은 고딕"/>
              </a:rPr>
              <a:t>나사머리(screw_head) 검출 방식 전환</a:t>
            </a:r>
          </a:p>
        </p:txBody>
      </p:sp>
      <p:sp>
        <p:nvSpPr>
          <p:cNvPr id="5" name="Rectangle 4"/>
          <p:cNvSpPr/>
          <p:nvPr/>
        </p:nvSpPr>
        <p:spPr>
          <a:xfrm>
            <a:off x="6016752" y="2161984"/>
            <a:ext cx="5614416" cy="3174111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5_px_to_mm_resu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2180272"/>
            <a:ext cx="5577840" cy="313753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17373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DC2626"/>
                </a:solidFill>
                <a:latin typeface="맑은 고딕"/>
                <a:ea typeface="맑은 고딕"/>
              </a:rPr>
              <a:t>학습 기반(YOLO) 방식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48840"/>
            <a:ext cx="4846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11243B"/>
                </a:solidFill>
                <a:latin typeface="맑은 고딕"/>
                <a:ea typeface="맑은 고딕"/>
              </a:rPr>
              <a:t>· 학습 인스턴스 다양성 부족(14장 내내 동일 3개 반복)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1243B"/>
                </a:solidFill>
                <a:latin typeface="맑은 고딕"/>
                <a:ea typeface="맑은 고딕"/>
              </a:rPr>
              <a:t>· held-out(미학습) 이미지에서 화면에 뚜렷이 보이는 나사를 0개 검출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24612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6A34A"/>
                </a:solidFill>
                <a:latin typeface="맑은 고딕"/>
                <a:ea typeface="맑은 고딕"/>
              </a:rPr>
              <a:t>색상(명도) 기반 고전 CV 전환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657600"/>
            <a:ext cx="48463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11243B"/>
                </a:solidFill>
                <a:latin typeface="맑은 고딕"/>
                <a:ea typeface="맑은 고딕"/>
              </a:rPr>
              <a:t>· 은색 나사 vs 무광 검정 배경 → Otsu 임계값만으로 학습 없이 검출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1243B"/>
                </a:solidFill>
                <a:latin typeface="맑은 고딕"/>
                <a:ea typeface="맑은 고딕"/>
              </a:rPr>
              <a:t>· 실측 오차 -1.6% ~ -7.6% 로 대폭 개선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1243B"/>
                </a:solidFill>
                <a:latin typeface="맑은 고딕"/>
                <a:ea typeface="맑은 고딕"/>
              </a:rPr>
              <a:t>· 기울어진 나사(타원 투영)는 aspect_ratio로 '틀어짐' 별도 분류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44652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맑은 고딕"/>
                <a:ea typeface="맑은 고딕"/>
              </a:rPr>
              <a:t>우측: 실제 캡처 결과 · 초록=정상 나사, 빨강=틀어짐, 노랑=stud_hole, 라벨에 mm값 표기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54864" cy="3840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F6FED"/>
                </a:solidFill>
                <a:latin typeface="맑은 고딕"/>
                <a:ea typeface="맑은 고딕"/>
              </a:rPr>
              <a:t>5. PX → MM 환산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49808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1243B"/>
                </a:solidFill>
                <a:latin typeface="맑은 고딕"/>
                <a:ea typeface="맑은 고딕"/>
              </a:rPr>
              <a:t>지름 측정 정확도 검증 — 평면-호모그래피 보정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91640"/>
            <a:ext cx="3291840" cy="182880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856232"/>
            <a:ext cx="28346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F6FED"/>
                </a:solidFill>
                <a:latin typeface="맑은 고딕"/>
                <a:ea typeface="맑은 고딕"/>
              </a:rPr>
              <a:t>3.1% → 0.3%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743200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1243B"/>
                </a:solidFill>
                <a:latin typeface="맑은 고딕"/>
                <a:ea typeface="맑은 고딕"/>
              </a:rPr>
              <a:t>지름 측정 오차 (합성 정답 데이터 기준)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081528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패널 기울기로 인한 시야각 오차를 depth 평면 피팅으로 보정, 10배 개선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03320"/>
            <a:ext cx="3291840" cy="182880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867912"/>
            <a:ext cx="28346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F6FED"/>
                </a:solidFill>
                <a:latin typeface="맑은 고딕"/>
                <a:ea typeface="맑은 고딕"/>
              </a:rPr>
              <a:t>0.9999998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4754880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1243B"/>
                </a:solidFill>
                <a:latin typeface="맑은 고딕"/>
                <a:ea typeface="맑은 고딕"/>
              </a:rPr>
              <a:t>평면 법선 추정 정확도 (내적)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093208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합성 3D 기울기 시뮬레이션으로 알고리즘 자체를 정량 검증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1691640"/>
            <a:ext cx="6949440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>
                <a:solidFill>
                  <a:srgbClr val="11243B"/>
                </a:solidFill>
                <a:latin typeface="맑은 고딕"/>
                <a:ea typeface="맑은 고딕"/>
              </a:rPr>
              <a:t>검증 방법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11243B"/>
                </a:solidFill>
                <a:latin typeface="맑은 고딕"/>
                <a:ea typeface="맑은 고딕"/>
              </a:rPr>
              <a:t>실제 카메라로는 '정답 지름'을 알 수 없어, 알려진 기울기·반지름의 3D 원을 가상 카메라에 투영해 합성 데이터를 만들고 알고리즘을 검증함.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11243B"/>
                </a:solidFill>
                <a:latin typeface="맑은 고딕"/>
                <a:ea typeface="맑은 고딕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11243B"/>
                </a:solidFill>
                <a:latin typeface="맑은 고딕"/>
                <a:ea typeface="맑은 고딕"/>
              </a:rPr>
              <a:t>실제 시편 적용 결과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11243B"/>
                </a:solidFill>
                <a:latin typeface="맑은 고딕"/>
                <a:ea typeface="맑은 고딕"/>
              </a:rPr>
              <a:t>이번 시편에서는 기존 mm 오차(+16%)가 거의 그대로 남음 — 패널 기울기가 이 시편에선 크지 않았다는 뜻이며, 동시에 그 오차의 주 원인이 패널 기울기가 아니라 다른 요인(세그멘테이션 마스크 해상도)임을 실측으로 규명함.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44652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맑은 고딕"/>
                <a:ea typeface="맑은 고딕"/>
              </a:rPr>
              <a:t>정직한 결과 보고: 알고리즘 정확성은 합성 데이터로 검증됨, 실제 오차 원인 규명은 별도 성과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54864" cy="3840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F6FED"/>
                </a:solidFill>
                <a:latin typeface="맑은 고딕"/>
                <a:ea typeface="맑은 고딕"/>
              </a:rPr>
              <a:t>6. 삽입 불량 판단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49808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1243B"/>
                </a:solidFill>
                <a:latin typeface="맑은 고딕"/>
                <a:ea typeface="맑은 고딕"/>
              </a:rPr>
              <a:t>최종 판정 결과물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7792" y="2001964"/>
            <a:ext cx="6345936" cy="3585591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6_insertion_check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0" y="2020252"/>
            <a:ext cx="6309360" cy="354901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2011680"/>
            <a:ext cx="2148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6A34A"/>
                </a:solidFill>
                <a:latin typeface="맑은 고딕"/>
                <a:ea typeface="맑은 고딕"/>
              </a:rPr>
              <a:t>정상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7440"/>
            <a:ext cx="21488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초록 원으로 표시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aspect_ratio·중심좌표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91840"/>
            <a:ext cx="2148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DC2626"/>
                </a:solidFill>
                <a:latin typeface="맑은 고딕"/>
                <a:ea typeface="맑은 고딕"/>
              </a:rPr>
              <a:t>틀어짐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657600"/>
            <a:ext cx="21488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빨강 원으로 표시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장단축비(aspect_ratio) 기준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572000"/>
            <a:ext cx="2148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F6FED"/>
                </a:solidFill>
                <a:latin typeface="맑은 고딕"/>
                <a:ea typeface="맑은 고딕"/>
              </a:rPr>
              <a:t>구멍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937760"/>
            <a:ext cx="21488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노랑 원 · mm 자동 라벨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44652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맑은 고딕"/>
                <a:ea typeface="맑은 고딕"/>
              </a:rPr>
              <a:t>한 장의 캡처에서 구멍 탐지 + 나사 상태(정상/덜박힘/틀어짐) 판정을 동시에 자동 표시 · 덜박힘 임계값 5.0mm 확정(53개 표본 이중분포 근거)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54864" cy="3840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F6FED"/>
                </a:solidFill>
                <a:latin typeface="맑은 고딕"/>
                <a:ea typeface="맑은 고딕"/>
              </a:rPr>
              <a:t>7. 실시간 검출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49808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1243B"/>
                </a:solidFill>
                <a:latin typeface="맑은 고딕"/>
                <a:ea typeface="맑은 고딕"/>
              </a:rPr>
              <a:t>실시간 상태머신 &amp; 현장 검증</a:t>
            </a:r>
          </a:p>
        </p:txBody>
      </p:sp>
      <p:sp>
        <p:nvSpPr>
          <p:cNvPr id="5" name="Rectangle 4"/>
          <p:cNvSpPr/>
          <p:nvPr/>
        </p:nvSpPr>
        <p:spPr>
          <a:xfrm>
            <a:off x="5742432" y="1828800"/>
            <a:ext cx="5888736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7_realtime_resul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0" y="1828800"/>
            <a:ext cx="5852160" cy="31089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85800" y="1783080"/>
            <a:ext cx="1051560" cy="777240"/>
          </a:xfrm>
          <a:prstGeom prst="round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  <a:ea typeface="맑은 고딕"/>
              </a:rPr>
              <a:t>WAITING</a:t>
            </a:r>
          </a:p>
        </p:txBody>
      </p:sp>
      <p:sp>
        <p:nvSpPr>
          <p:cNvPr id="8" name="Right Arrow 7"/>
          <p:cNvSpPr/>
          <p:nvPr/>
        </p:nvSpPr>
        <p:spPr>
          <a:xfrm>
            <a:off x="1737360" y="2107692"/>
            <a:ext cx="320040" cy="128016"/>
          </a:xfrm>
          <a:prstGeom prst="rightArrow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57400" y="1783080"/>
            <a:ext cx="1051560" cy="777240"/>
          </a:xfrm>
          <a:prstGeom prst="round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  <a:ea typeface="맑은 고딕"/>
              </a:rPr>
              <a:t>SETTLING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108960" y="2107692"/>
            <a:ext cx="320040" cy="128016"/>
          </a:xfrm>
          <a:prstGeom prst="rightArrow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29000" y="1783080"/>
            <a:ext cx="1051560" cy="777240"/>
          </a:xfrm>
          <a:prstGeom prst="round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  <a:ea typeface="맑은 고딕"/>
              </a:rPr>
              <a:t>MEASURING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480560" y="2107692"/>
            <a:ext cx="320040" cy="128016"/>
          </a:xfrm>
          <a:prstGeom prst="rightArrow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800600" y="1783080"/>
            <a:ext cx="1051560" cy="777240"/>
          </a:xfrm>
          <a:prstGeom prst="round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  <a:ea typeface="맑은 고딕"/>
              </a:rPr>
              <a:t>RESULT
SHOWN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880360"/>
            <a:ext cx="4846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모션 재감지 시 RESULT_SHOWN → WAITING 복귀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383280"/>
            <a:ext cx="2423160" cy="160020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547872"/>
            <a:ext cx="19659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F6FED"/>
                </a:solidFill>
                <a:latin typeface="맑은 고딕"/>
                <a:ea typeface="맑은 고딕"/>
              </a:rPr>
              <a:t>-37%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206240"/>
            <a:ext cx="1965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1243B"/>
                </a:solidFill>
                <a:latin typeface="맑은 고딕"/>
                <a:ea typeface="맑은 고딕"/>
              </a:rPr>
              <a:t>측정 소요시간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544568"/>
            <a:ext cx="1965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4.93s → 3.08s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46120" y="3383280"/>
            <a:ext cx="2423160" cy="160020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74720" y="3547872"/>
            <a:ext cx="19659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F6FED"/>
                </a:solidFill>
                <a:latin typeface="맑은 고딕"/>
                <a:ea typeface="맑은 고딕"/>
              </a:rPr>
              <a:t>3/3회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0" y="4206240"/>
            <a:ext cx="1965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1243B"/>
                </a:solidFill>
                <a:latin typeface="맑은 고딕"/>
                <a:ea typeface="맑은 고딕"/>
              </a:rPr>
              <a:t>현장 순환 검증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0" y="4544568"/>
            <a:ext cx="1965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치웠다 놓기 반복 성공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212080"/>
            <a:ext cx="108813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11243B"/>
                </a:solidFill>
                <a:latin typeface="맑은 고딕"/>
                <a:ea typeface="맑은 고딕"/>
              </a:rPr>
              <a:t>자기검증 메커니즘 실동작 확인: 15프레임 버스트 2회 비교 중 실제 불일치(나사 4개/3개) 발생 → 30프레임 재측정으로 자동 전환 → 원인(반사로 인한 depth 유실, 배경 오탐)까지 로그로 정확히 규명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644652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맑은 고딕"/>
                <a:ea typeface="맑은 고딕"/>
              </a:rPr>
              <a:t>카메라 고정 + 시편 이동 전제, 정지 감지 시 자동으로 5·6번 판정 파이프라인 실행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54864" cy="3840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F6FED"/>
                </a:solidFill>
                <a:latin typeface="맑은 고딕"/>
                <a:ea typeface="맑은 고딕"/>
              </a:rPr>
              <a:t>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49808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1243B"/>
                </a:solidFill>
                <a:latin typeface="맑은 고딕"/>
                <a:ea typeface="맑은 고딕"/>
              </a:rPr>
              <a:t>한계 및 다음 단계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737360"/>
            <a:ext cx="128016" cy="128016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16916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1243B"/>
                </a:solidFill>
                <a:latin typeface="맑은 고딕"/>
                <a:ea typeface="맑은 고딕"/>
              </a:rPr>
              <a:t>틀어짐(평면) 판정 미해결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057400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  <a:ea typeface="맑은 고딕"/>
              </a:rPr>
              <a:t>삽입된 나사가 자기 구멍을 가려 중심좌표 매칭이 근본적으로 불가능 — 재설계 필요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834640"/>
            <a:ext cx="128016" cy="128016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8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1243B"/>
                </a:solidFill>
                <a:latin typeface="맑은 고딕"/>
                <a:ea typeface="맑은 고딕"/>
              </a:rPr>
              <a:t>다른 시편 캘리퍼 값 미확보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154680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  <a:ea typeface="맑은 고딕"/>
              </a:rPr>
              <a:t>새 트레드 시편은 구멍이 오목(concave)해 기존 측정법이 안 맞음 — 시편별 파라미터 프로파일 구조는 구축, 캘리퍼 기준값은 별도 측정 필요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3931920"/>
            <a:ext cx="128016" cy="128016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8862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1243B"/>
                </a:solidFill>
                <a:latin typeface="맑은 고딕"/>
                <a:ea typeface="맑은 고딕"/>
              </a:rPr>
              <a:t>모션 감지 임계값 정밀 재보정 필요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251960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  <a:ea typeface="맑은 고딕"/>
              </a:rPr>
              <a:t>현장에서 실제 이동으로 3/3회 정상 동작 확인(잠정값 0.5mm) — 원격 캘리브레이션은 시편을 못 움직여 실패, 정식 재보정은 아직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5029200"/>
            <a:ext cx="128016" cy="128016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4983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1243B"/>
                </a:solidFill>
                <a:latin typeface="맑은 고딕"/>
                <a:ea typeface="맑은 고딕"/>
              </a:rPr>
              <a:t>배경 오탐 사례 발견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349240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  <a:ea typeface="맑은 고딕"/>
              </a:rPr>
              <a:t>모니터 스탠드 반사물이 나사로 오탐되며 틀어짐까지 판정된 사례 1건 — 면적/컨텍스트 필터 보강 검토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24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8288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F6FED"/>
                </a:solidFill>
                <a:latin typeface="맑은 고딕"/>
                <a:ea typeface="맑은 고딕"/>
              </a:rPr>
              <a:t>요약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800" b="0">
                <a:solidFill>
                  <a:srgbClr val="FFFFFF"/>
                </a:solidFill>
                <a:latin typeface="맑은 고딕"/>
                <a:ea typeface="맑은 고딕"/>
              </a:rPr>
              <a:t>1.  구멍·나사 검출 정확도를 실측 기반 실험으로 반복 개선 (재현율 9→13개, 색상 기반 전환)</a:t>
            </a:r>
          </a:p>
          <a:p>
            <a:pPr algn="l">
              <a:lnSpc>
                <a:spcPct val="160000"/>
              </a:lnSpc>
            </a:pPr>
            <a:r>
              <a:rPr sz="1800" b="0">
                <a:solidFill>
                  <a:srgbClr val="FFFFFF"/>
                </a:solidFill>
                <a:latin typeface="맑은 고딕"/>
                <a:ea typeface="맑은 고딕"/>
              </a:rPr>
              <a:t/>
            </a:r>
          </a:p>
          <a:p>
            <a:pPr algn="l">
              <a:lnSpc>
                <a:spcPct val="160000"/>
              </a:lnSpc>
            </a:pPr>
            <a:r>
              <a:rPr sz="1800" b="0">
                <a:solidFill>
                  <a:srgbClr val="FFFFFF"/>
                </a:solidFill>
                <a:latin typeface="맑은 고딕"/>
                <a:ea typeface="맑은 고딕"/>
              </a:rPr>
              <a:t>2.  측정 알고리즘의 정확성을 합성 정답 데이터로 처음 정량 검증</a:t>
            </a:r>
          </a:p>
          <a:p>
            <a:pPr algn="l">
              <a:lnSpc>
                <a:spcPct val="160000"/>
              </a:lnSpc>
            </a:pPr>
            <a:r>
              <a:rPr sz="1800" b="0">
                <a:solidFill>
                  <a:srgbClr val="FFFFFF"/>
                </a:solidFill>
                <a:latin typeface="맑은 고딕"/>
                <a:ea typeface="맑은 고딕"/>
              </a:rPr>
              <a:t/>
            </a:r>
          </a:p>
          <a:p>
            <a:pPr algn="l">
              <a:lnSpc>
                <a:spcPct val="160000"/>
              </a:lnSpc>
            </a:pPr>
            <a:r>
              <a:rPr sz="1800" b="0">
                <a:solidFill>
                  <a:srgbClr val="FFFFFF"/>
                </a:solidFill>
                <a:latin typeface="맑은 고딕"/>
                <a:ea typeface="맑은 고딕"/>
              </a:rPr>
              <a:t>3.  실시간 상태머신을 현장 실카메라로 전체 순환 검증 (측정시간 -37%)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7C8BA8"/>
                </a:solidFill>
                <a:latin typeface="맑은 고딕"/>
                <a:ea typeface="맑은 고딕"/>
              </a:rPr>
              <a:t>감사합니다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